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060704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申請数</c:v>
                </c:pt>
              </c:strCache>
            </c:strRef>
          </c:tx>
          <c:spPr>
            <a:solidFill>
              <a:srgbClr val="1C3077"/>
            </a:solidFill>
            <a:ln w="29209">
              <a:solidFill>
                <a:srgbClr val="1C3077"/>
              </a:solidFill>
            </a:ln>
          </c:spPr>
          <c:cat>
            <c:strRef>
              <c:f>Sheet1!$A$2:$A$5</c:f>
              <c:strCache>
                <c:ptCount val="4"/>
                <c:pt idx="0">
                  <c:v>情報</c:v>
                </c:pt>
                <c:pt idx="1">
                  <c:v>材料</c:v>
                </c:pt>
                <c:pt idx="2">
                  <c:v>医工</c:v>
                </c:pt>
                <c:pt idx="3">
                  <c:v>環境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14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0">
                  <a:solidFill>
                    <a:srgbClr val="22304D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b"/>
        <c:majorGridlines>
          <c:spPr>
            <a:ln w="7620">
              <a:solidFill>
                <a:srgbClr val="C9D3E5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068027336"/>
        <c:crosses val="autoZero"/>
        <c:majorUnit val="5.0"/>
      </c:valAx>
    </c:plotArea>
    <c:dispBlanksAs val="gap"/>
  </c:chart>
  <c:txPr>
    <a:bodyPr/>
    <a:lstStyle/>
    <a:p>
      <a:pPr>
        <a:defRPr sz="1400" b="0">
          <a:solidFill>
            <a:srgbClr val="22304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基盤A</c:v>
                </c:pt>
              </c:strCache>
            </c:strRef>
          </c:tx>
          <c:spPr>
            <a:solidFill>
              <a:srgbClr val="1C3077"/>
            </a:solidFill>
            <a:ln w="29209">
              <a:noFill/>
            </a:ln>
          </c:spPr>
          <c:marker>
            <c:symbol val="circle"/>
            <c:size val="9"/>
            <c:spPr>
              <a:solidFill>
                <a:srgbClr val="1C3077"/>
              </a:solidFill>
              <a:ln>
                <a:solidFill>
                  <a:srgbClr val="1C3077"/>
                </a:solidFill>
              </a:ln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20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40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解析B</c:v>
                </c:pt>
              </c:strCache>
            </c:strRef>
          </c:tx>
          <c:spPr>
            <a:solidFill>
              <a:srgbClr val="7F96C2"/>
            </a:solidFill>
            <a:ln w="29209">
              <a:noFill/>
            </a:ln>
          </c:spPr>
          <c:marker>
            <c:symbol val="square"/>
            <c:size val="9"/>
            <c:spPr>
              <a:solidFill>
                <a:srgbClr val="7F96C2"/>
              </a:solidFill>
              <a:ln>
                <a:solidFill>
                  <a:srgbClr val="7F96C2"/>
                </a:solidFill>
              </a:ln>
            </c:spPr>
          </c:marker>
          <c:xVal>
            <c:numRef>
              <c:f>Sheet1!$A$5:$A$5</c:f>
              <c:numCache>
                <c:formatCode>General</c:formatCode>
                <c:ptCount val="1"/>
                <c:pt idx="0">
                  <c:v>45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70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実証C</c:v>
                </c:pt>
              </c:strCache>
            </c:strRef>
          </c:tx>
          <c:spPr>
            <a:solidFill>
              <a:srgbClr val="B8C7E0"/>
            </a:solidFill>
            <a:ln w="29209">
              <a:noFill/>
            </a:ln>
          </c:spPr>
          <c:marker>
            <c:symbol val="diamond"/>
            <c:size val="9"/>
            <c:spPr>
              <a:solidFill>
                <a:srgbClr val="B8C7E0"/>
              </a:solidFill>
              <a:ln>
                <a:solidFill>
                  <a:srgbClr val="B8C7E0"/>
                </a:solidFill>
              </a:ln>
            </c:spPr>
          </c:marker>
          <c:xVal>
            <c:numRef>
              <c:f>Sheet1!$A$8:$A$8</c:f>
              <c:numCache>
                <c:formatCode>General</c:formatCode>
                <c:ptCount val="1"/>
                <c:pt idx="0">
                  <c:v>70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50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80.0"/>
          <c:min val="0.0"/>
        </c:scaling>
        <c:delete val="0"/>
        <c:axPos val="b"/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29643912"/>
        <c:crosses val="autoZero"/>
        <c:crossBetween val="midCat"/>
        <c:majorUnit val="20.0"/>
      </c:valAx>
      <c:valAx>
        <c:axId val="-2129643912"/>
        <c:scaling>
          <c:orientation val="minMax"/>
          <c:max val="100.0"/>
          <c:min val="0.0"/>
        </c:scaling>
        <c:delete val="0"/>
        <c:axPos val="l"/>
        <c:majorGridlines>
          <c:spPr>
            <a:ln w="7620">
              <a:solidFill>
                <a:srgbClr val="C9D3E5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28940872"/>
        <c:crosses val="autoZero"/>
        <c:crossBetween val="midCat"/>
        <c:majorUnit val="20.0"/>
      </c:valAx>
    </c:plotArea>
    <c:legend>
      <c:legendPos val="b"/>
      <c:layout/>
      <c:overlay val="0"/>
      <c:txPr>
        <a:bodyPr/>
        <a:lstStyle/>
        <a:p>
          <a:pPr>
            <a:defRPr sz="1400" b="0">
              <a:solidFill>
                <a:srgbClr val="22304D"/>
              </a:solidFill>
              <a:latin typeface="Yu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 b="0">
          <a:solidFill>
            <a:srgbClr val="22304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拡大</c:v>
                </c:pt>
              </c:strCache>
            </c:strRef>
          </c:tx>
          <c:spPr>
            <a:solidFill>
              <a:srgbClr val="1C3077"/>
            </a:solidFill>
            <a:ln w="29209">
              <a:solidFill>
                <a:srgbClr val="1C3077"/>
              </a:solidFill>
            </a:ln>
          </c:spPr>
          <c:marker>
            <c:symbol val="circle"/>
            <c:size val="6"/>
            <c:spPr>
              <a:solidFill>
                <a:srgbClr val="1C3077"/>
              </a:solidFill>
              <a:ln>
                <a:solidFill>
                  <a:srgbClr val="1C3077"/>
                </a:solidFill>
              </a:ln>
            </c:spPr>
          </c:marker>
          <c:xVal>
            <c:numRef>
              <c:f>Sheet1!$A$2:$A$5</c:f>
              <c:numCache>
                <c:formatCode>General</c:formatCod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120</c:v>
                </c:pt>
                <c:pt idx="2">
                  <c:v>144</c:v>
                </c:pt>
                <c:pt idx="3">
                  <c:v>172.8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</c:f>
              <c:strCache>
                <c:ptCount val="1"/>
                <c:pt idx="0">
                  <c:v>標準</c:v>
                </c:pt>
              </c:strCache>
            </c:strRef>
          </c:tx>
          <c:spPr>
            <a:solidFill>
              <a:srgbClr val="7F96C2"/>
            </a:solidFill>
            <a:ln w="29209">
              <a:solidFill>
                <a:srgbClr val="7F96C2"/>
              </a:solidFill>
            </a:ln>
          </c:spPr>
          <c:marker>
            <c:symbol val="square"/>
            <c:size val="6"/>
            <c:spPr>
              <a:solidFill>
                <a:srgbClr val="7F96C2"/>
              </a:solidFill>
              <a:ln>
                <a:solidFill>
                  <a:srgbClr val="7F96C2"/>
                </a:solidFill>
              </a:ln>
            </c:spPr>
          </c:marker>
          <c:xVal>
            <c:numRef>
              <c:f>Sheet1!$A$8:$A$11</c:f>
              <c:numCache>
                <c:formatCode>General</c:formatCod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numCache>
            </c:numRef>
          </c:xVal>
          <c:yVal>
            <c:numRef>
              <c:f>Sheet1!$B$8:$B$11</c:f>
              <c:numCache>
                <c:formatCode>General</c:formatCode>
                <c:ptCount val="4"/>
                <c:pt idx="0">
                  <c:v>100</c:v>
                </c:pt>
                <c:pt idx="1">
                  <c:v>110</c:v>
                </c:pt>
                <c:pt idx="2">
                  <c:v>121</c:v>
                </c:pt>
                <c:pt idx="3">
                  <c:v>133.1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Sheet1!$B$13</c:f>
              <c:strCache>
                <c:ptCount val="1"/>
                <c:pt idx="0">
                  <c:v>慎重</c:v>
                </c:pt>
              </c:strCache>
            </c:strRef>
          </c:tx>
          <c:spPr>
            <a:solidFill>
              <a:srgbClr val="B8C7E0"/>
            </a:solidFill>
            <a:ln w="29209">
              <a:solidFill>
                <a:srgbClr val="B8C7E0"/>
              </a:solidFill>
            </a:ln>
          </c:spPr>
          <c:marker>
            <c:symbol val="diamond"/>
            <c:size val="6"/>
            <c:spPr>
              <a:solidFill>
                <a:srgbClr val="B8C7E0"/>
              </a:solidFill>
              <a:ln>
                <a:solidFill>
                  <a:srgbClr val="B8C7E0"/>
                </a:solidFill>
              </a:ln>
            </c:spPr>
          </c:marker>
          <c:xVal>
            <c:numRef>
              <c:f>Sheet1!$A$14:$A$17</c:f>
              <c:numCache>
                <c:formatCode>General</c:formatCod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</c:numCache>
            </c:numRef>
          </c:xVal>
          <c:yVal>
            <c:numRef>
              <c:f>Sheet1!$B$14:$B$17</c:f>
              <c:numCache>
                <c:formatCode>General</c:formatCode>
                <c:ptCount val="4"/>
                <c:pt idx="0">
                  <c:v>100</c:v>
                </c:pt>
                <c:pt idx="1">
                  <c:v>105</c:v>
                </c:pt>
                <c:pt idx="2">
                  <c:v>110.25</c:v>
                </c:pt>
                <c:pt idx="3">
                  <c:v>115.7625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029.0"/>
          <c:min val="2026.0"/>
        </c:scaling>
        <c:delete val="0"/>
        <c:axPos val="b"/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29643912"/>
        <c:crosses val="autoZero"/>
        <c:crossBetween val="midCat"/>
        <c:majorUnit val="1.0"/>
      </c:valAx>
      <c:valAx>
        <c:axId val="-2129643912"/>
        <c:scaling>
          <c:orientation val="minMax"/>
          <c:max val="200.0"/>
          <c:min val="0.0"/>
        </c:scaling>
        <c:delete val="0"/>
        <c:axPos val="l"/>
        <c:majorGridlines>
          <c:spPr>
            <a:ln w="7620">
              <a:solidFill>
                <a:srgbClr val="C9D3E5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28940872"/>
        <c:crosses val="autoZero"/>
        <c:crossBetween val="midCat"/>
        <c:majorUnit val="50.0"/>
      </c:valAx>
    </c:plotArea>
    <c:legend>
      <c:legendPos val="b"/>
      <c:layout/>
      <c:overlay val="0"/>
      <c:txPr>
        <a:bodyPr/>
        <a:lstStyle/>
        <a:p>
          <a:pPr>
            <a:defRPr sz="1400" b="0">
              <a:solidFill>
                <a:srgbClr val="22304D"/>
              </a:solidFill>
              <a:latin typeface="Yu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 b="0">
          <a:solidFill>
            <a:srgbClr val="22304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利用件数</c:v>
                </c:pt>
              </c:strCache>
            </c:strRef>
          </c:tx>
          <c:spPr>
            <a:solidFill>
              <a:srgbClr val="1C3077"/>
            </a:solidFill>
            <a:ln w="29209">
              <a:solidFill>
                <a:srgbClr val="1C3077"/>
              </a:solidFill>
            </a:ln>
          </c:spPr>
          <c:cat>
            <c:strRef>
              <c:f>Sheet1!$A$2:$A$5</c:f>
              <c:strCache>
                <c:ptCount val="4"/>
                <c:pt idx="0">
                  <c:v>第1期</c:v>
                </c:pt>
                <c:pt idx="1">
                  <c:v>第2期</c:v>
                </c:pt>
                <c:pt idx="2">
                  <c:v>第3期</c:v>
                </c:pt>
                <c:pt idx="3">
                  <c:v>第4期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32</c:v>
                </c:pt>
                <c:pt idx="2">
                  <c:v>40</c:v>
                </c:pt>
                <c:pt idx="3">
                  <c:v>48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0">
                  <a:solidFill>
                    <a:srgbClr val="22304D"/>
                  </a:solidFill>
                  <a:latin typeface="Yu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 w="7620">
              <a:solidFill>
                <a:srgbClr val="C9D3E5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400" b="0">
          <a:solidFill>
            <a:srgbClr val="22304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基礎研究</c:v>
                </c:pt>
              </c:strCache>
            </c:strRef>
          </c:tx>
          <c:spPr>
            <a:solidFill>
              <a:srgbClr val="1C3077"/>
            </a:solidFill>
            <a:ln w="29209">
              <a:solidFill>
                <a:srgbClr val="1C3077"/>
              </a:solidFill>
            </a:ln>
          </c:spPr>
          <c:dLbls>
            <c:dLbl>
              <c:idx val="0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FFFFFF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前期</c:v>
                </c:pt>
                <c:pt idx="1">
                  <c:v>当期</c:v>
                </c:pt>
                <c:pt idx="2">
                  <c:v>次期案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24</c:v>
                </c:pt>
                <c:pt idx="2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共同研究</c:v>
                </c:pt>
              </c:strCache>
            </c:strRef>
          </c:tx>
          <c:spPr>
            <a:solidFill>
              <a:srgbClr val="7F96C2"/>
            </a:solidFill>
            <a:ln w="29209">
              <a:solidFill>
                <a:srgbClr val="7F96C2"/>
              </a:solidFill>
            </a:ln>
          </c:spPr>
          <c:dLbls>
            <c:dLbl>
              <c:idx val="0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前期</c:v>
                </c:pt>
                <c:pt idx="1">
                  <c:v>当期</c:v>
                </c:pt>
                <c:pt idx="2">
                  <c:v>次期案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教育</c:v>
                </c:pt>
              </c:strCache>
            </c:strRef>
          </c:tx>
          <c:spPr>
            <a:solidFill>
              <a:srgbClr val="B8C7E0"/>
            </a:solidFill>
            <a:ln w="29209">
              <a:solidFill>
                <a:srgbClr val="B8C7E0"/>
              </a:solidFill>
            </a:ln>
          </c:spPr>
          <c:dLbls>
            <c:dLbl>
              <c:idx val="0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0">
                      <a:solidFill>
                        <a:srgbClr val="22304D"/>
                      </a:solidFill>
                      <a:latin typeface="Yu Gothic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前期</c:v>
                </c:pt>
                <c:pt idx="1">
                  <c:v>当期</c:v>
                </c:pt>
                <c:pt idx="2">
                  <c:v>次期案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</c:v>
                </c:pt>
                <c:pt idx="1">
                  <c:v>16</c:v>
                </c:pt>
                <c:pt idx="2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0">
                  <a:solidFill>
                    <a:srgbClr val="FFFFFF"/>
                  </a:solidFill>
                  <a:latin typeface="Yu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7620">
              <a:solidFill>
                <a:srgbClr val="C9D3E5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solidFill>
              <a:srgbClr val="C9D3E5"/>
            </a:solidFill>
          </a:ln>
        </c:spPr>
        <c:txPr>
          <a:bodyPr/>
          <a:lstStyle/>
          <a:p>
            <a:pPr>
              <a:defRPr sz="1400" b="0">
                <a:solidFill>
                  <a:srgbClr val="22304D"/>
                </a:solidFill>
                <a:latin typeface="Yu Gothic"/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  <c:txPr>
        <a:bodyPr/>
        <a:lstStyle/>
        <a:p>
          <a:pPr>
            <a:defRPr sz="1400" b="0">
              <a:solidFill>
                <a:srgbClr val="22304D"/>
              </a:solidFill>
              <a:latin typeface="Yu Gothic"/>
            </a:defRPr>
          </a:pPr>
        </a:p>
      </c:txPr>
    </c:legend>
    <c:dispBlanksAs val="gap"/>
  </c:chart>
  <c:txPr>
    <a:bodyPr/>
    <a:lstStyle/>
    <a:p>
      <a:pPr>
        <a:defRPr sz="1400" b="0">
          <a:solidFill>
            <a:srgbClr val="22304D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dot_matrix_share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progress_bubble_matrix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ranked_bar_annotated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scatter_annotated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proportional_circles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delta_bars_totals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scenario_lines_cagr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swimlane_numbered_notes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front_back_two_tier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chart_insight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stacked_bar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waterfall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true_waterfall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small_multiples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matrix_2x2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issue_to_solution_map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issue_tree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calc_flow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cycle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decision_fork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roadmap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diagram-id: gantt</a:t>
            </a:r>
          </a:p>
          <a:p>
            <a:r>
              <a:t>構成・数値は説明用の架空例。</a:t>
            </a:r>
          </a:p>
          <a:p>
            <a:r>
              <a:t>Yu Gothic。数値・図形・コネクタ・チャートは編集可能。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ot_matrix_sha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用データの公開状況（100件）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共用データの公開状況（100件）</a:t>
            </a:r>
          </a:p>
        </p:txBody>
      </p:sp>
      <p:sp>
        <p:nvSpPr>
          <p:cNvPr id="3" name="record:1:open"/>
          <p:cNvSpPr/>
          <p:nvPr/>
        </p:nvSpPr>
        <p:spPr>
          <a:xfrm>
            <a:off x="594360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ord:2:open"/>
          <p:cNvSpPr/>
          <p:nvPr/>
        </p:nvSpPr>
        <p:spPr>
          <a:xfrm>
            <a:off x="859536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ord:3:open"/>
          <p:cNvSpPr/>
          <p:nvPr/>
        </p:nvSpPr>
        <p:spPr>
          <a:xfrm>
            <a:off x="1124712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ord:4:open"/>
          <p:cNvSpPr/>
          <p:nvPr/>
        </p:nvSpPr>
        <p:spPr>
          <a:xfrm>
            <a:off x="1389887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ord:5:open"/>
          <p:cNvSpPr/>
          <p:nvPr/>
        </p:nvSpPr>
        <p:spPr>
          <a:xfrm>
            <a:off x="1655063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rd:6:open"/>
          <p:cNvSpPr/>
          <p:nvPr/>
        </p:nvSpPr>
        <p:spPr>
          <a:xfrm>
            <a:off x="1920240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rd:7:open"/>
          <p:cNvSpPr/>
          <p:nvPr/>
        </p:nvSpPr>
        <p:spPr>
          <a:xfrm>
            <a:off x="2185415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rd:8:open"/>
          <p:cNvSpPr/>
          <p:nvPr/>
        </p:nvSpPr>
        <p:spPr>
          <a:xfrm>
            <a:off x="2450591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rd:9:open"/>
          <p:cNvSpPr/>
          <p:nvPr/>
        </p:nvSpPr>
        <p:spPr>
          <a:xfrm>
            <a:off x="2715768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rd:10:open"/>
          <p:cNvSpPr/>
          <p:nvPr/>
        </p:nvSpPr>
        <p:spPr>
          <a:xfrm>
            <a:off x="2980944" y="77724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rd:11:open"/>
          <p:cNvSpPr/>
          <p:nvPr/>
        </p:nvSpPr>
        <p:spPr>
          <a:xfrm>
            <a:off x="594360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rd:12:open"/>
          <p:cNvSpPr/>
          <p:nvPr/>
        </p:nvSpPr>
        <p:spPr>
          <a:xfrm>
            <a:off x="859536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rd:13:open"/>
          <p:cNvSpPr/>
          <p:nvPr/>
        </p:nvSpPr>
        <p:spPr>
          <a:xfrm>
            <a:off x="1124712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ord:14:open"/>
          <p:cNvSpPr/>
          <p:nvPr/>
        </p:nvSpPr>
        <p:spPr>
          <a:xfrm>
            <a:off x="1389887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ord:15:open"/>
          <p:cNvSpPr/>
          <p:nvPr/>
        </p:nvSpPr>
        <p:spPr>
          <a:xfrm>
            <a:off x="1655063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ord:16:open"/>
          <p:cNvSpPr/>
          <p:nvPr/>
        </p:nvSpPr>
        <p:spPr>
          <a:xfrm>
            <a:off x="1920240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ord:17:open"/>
          <p:cNvSpPr/>
          <p:nvPr/>
        </p:nvSpPr>
        <p:spPr>
          <a:xfrm>
            <a:off x="2185415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ord:18:open"/>
          <p:cNvSpPr/>
          <p:nvPr/>
        </p:nvSpPr>
        <p:spPr>
          <a:xfrm>
            <a:off x="2450591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ord:19:open"/>
          <p:cNvSpPr/>
          <p:nvPr/>
        </p:nvSpPr>
        <p:spPr>
          <a:xfrm>
            <a:off x="2715768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ord:20:open"/>
          <p:cNvSpPr/>
          <p:nvPr/>
        </p:nvSpPr>
        <p:spPr>
          <a:xfrm>
            <a:off x="2980944" y="104241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ord:21:open"/>
          <p:cNvSpPr/>
          <p:nvPr/>
        </p:nvSpPr>
        <p:spPr>
          <a:xfrm>
            <a:off x="594360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ord:22:open"/>
          <p:cNvSpPr/>
          <p:nvPr/>
        </p:nvSpPr>
        <p:spPr>
          <a:xfrm>
            <a:off x="859536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ord:23:open"/>
          <p:cNvSpPr/>
          <p:nvPr/>
        </p:nvSpPr>
        <p:spPr>
          <a:xfrm>
            <a:off x="1124712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ord:24:open"/>
          <p:cNvSpPr/>
          <p:nvPr/>
        </p:nvSpPr>
        <p:spPr>
          <a:xfrm>
            <a:off x="1389887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ord:25:open"/>
          <p:cNvSpPr/>
          <p:nvPr/>
        </p:nvSpPr>
        <p:spPr>
          <a:xfrm>
            <a:off x="1655063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ord:26:open"/>
          <p:cNvSpPr/>
          <p:nvPr/>
        </p:nvSpPr>
        <p:spPr>
          <a:xfrm>
            <a:off x="1920240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ord:27:open"/>
          <p:cNvSpPr/>
          <p:nvPr/>
        </p:nvSpPr>
        <p:spPr>
          <a:xfrm>
            <a:off x="2185415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ord:28:open"/>
          <p:cNvSpPr/>
          <p:nvPr/>
        </p:nvSpPr>
        <p:spPr>
          <a:xfrm>
            <a:off x="2450591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ord:29:open"/>
          <p:cNvSpPr/>
          <p:nvPr/>
        </p:nvSpPr>
        <p:spPr>
          <a:xfrm>
            <a:off x="2715768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ord:30:open"/>
          <p:cNvSpPr/>
          <p:nvPr/>
        </p:nvSpPr>
        <p:spPr>
          <a:xfrm>
            <a:off x="2980944" y="1307591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ord:31:open"/>
          <p:cNvSpPr/>
          <p:nvPr/>
        </p:nvSpPr>
        <p:spPr>
          <a:xfrm>
            <a:off x="594360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ord:32:open"/>
          <p:cNvSpPr/>
          <p:nvPr/>
        </p:nvSpPr>
        <p:spPr>
          <a:xfrm>
            <a:off x="859536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ord:33:open"/>
          <p:cNvSpPr/>
          <p:nvPr/>
        </p:nvSpPr>
        <p:spPr>
          <a:xfrm>
            <a:off x="1124712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ord:34:open"/>
          <p:cNvSpPr/>
          <p:nvPr/>
        </p:nvSpPr>
        <p:spPr>
          <a:xfrm>
            <a:off x="1389887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ord:35:open"/>
          <p:cNvSpPr/>
          <p:nvPr/>
        </p:nvSpPr>
        <p:spPr>
          <a:xfrm>
            <a:off x="1655063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ord:36:open"/>
          <p:cNvSpPr/>
          <p:nvPr/>
        </p:nvSpPr>
        <p:spPr>
          <a:xfrm>
            <a:off x="1920240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ord:37:open"/>
          <p:cNvSpPr/>
          <p:nvPr/>
        </p:nvSpPr>
        <p:spPr>
          <a:xfrm>
            <a:off x="2185415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ord:38:open"/>
          <p:cNvSpPr/>
          <p:nvPr/>
        </p:nvSpPr>
        <p:spPr>
          <a:xfrm>
            <a:off x="2450591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ord:39:open"/>
          <p:cNvSpPr/>
          <p:nvPr/>
        </p:nvSpPr>
        <p:spPr>
          <a:xfrm>
            <a:off x="2715768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ord:40:open"/>
          <p:cNvSpPr/>
          <p:nvPr/>
        </p:nvSpPr>
        <p:spPr>
          <a:xfrm>
            <a:off x="2980944" y="1572767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ord:41:open"/>
          <p:cNvSpPr/>
          <p:nvPr/>
        </p:nvSpPr>
        <p:spPr>
          <a:xfrm>
            <a:off x="594360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ord:42:open"/>
          <p:cNvSpPr/>
          <p:nvPr/>
        </p:nvSpPr>
        <p:spPr>
          <a:xfrm>
            <a:off x="859536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ord:43:open"/>
          <p:cNvSpPr/>
          <p:nvPr/>
        </p:nvSpPr>
        <p:spPr>
          <a:xfrm>
            <a:off x="1124712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ord:44:open"/>
          <p:cNvSpPr/>
          <p:nvPr/>
        </p:nvSpPr>
        <p:spPr>
          <a:xfrm>
            <a:off x="1389887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ord:45:open"/>
          <p:cNvSpPr/>
          <p:nvPr/>
        </p:nvSpPr>
        <p:spPr>
          <a:xfrm>
            <a:off x="1655063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ord:46:open"/>
          <p:cNvSpPr/>
          <p:nvPr/>
        </p:nvSpPr>
        <p:spPr>
          <a:xfrm>
            <a:off x="1920240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ord:47:open"/>
          <p:cNvSpPr/>
          <p:nvPr/>
        </p:nvSpPr>
        <p:spPr>
          <a:xfrm>
            <a:off x="2185415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ord:48:open"/>
          <p:cNvSpPr/>
          <p:nvPr/>
        </p:nvSpPr>
        <p:spPr>
          <a:xfrm>
            <a:off x="2450591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ord:49:open"/>
          <p:cNvSpPr/>
          <p:nvPr/>
        </p:nvSpPr>
        <p:spPr>
          <a:xfrm>
            <a:off x="2715768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ord:50:open"/>
          <p:cNvSpPr/>
          <p:nvPr/>
        </p:nvSpPr>
        <p:spPr>
          <a:xfrm>
            <a:off x="2980944" y="1837943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ord:51:open"/>
          <p:cNvSpPr/>
          <p:nvPr/>
        </p:nvSpPr>
        <p:spPr>
          <a:xfrm>
            <a:off x="594360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ord:52:open"/>
          <p:cNvSpPr/>
          <p:nvPr/>
        </p:nvSpPr>
        <p:spPr>
          <a:xfrm>
            <a:off x="859536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ord:53:open"/>
          <p:cNvSpPr/>
          <p:nvPr/>
        </p:nvSpPr>
        <p:spPr>
          <a:xfrm>
            <a:off x="1124712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ord:54:open"/>
          <p:cNvSpPr/>
          <p:nvPr/>
        </p:nvSpPr>
        <p:spPr>
          <a:xfrm>
            <a:off x="1389887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ord:55:open"/>
          <p:cNvSpPr/>
          <p:nvPr/>
        </p:nvSpPr>
        <p:spPr>
          <a:xfrm>
            <a:off x="1655063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ord:56:open"/>
          <p:cNvSpPr/>
          <p:nvPr/>
        </p:nvSpPr>
        <p:spPr>
          <a:xfrm>
            <a:off x="1920240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ord:57:open"/>
          <p:cNvSpPr/>
          <p:nvPr/>
        </p:nvSpPr>
        <p:spPr>
          <a:xfrm>
            <a:off x="2185415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ord:58:open"/>
          <p:cNvSpPr/>
          <p:nvPr/>
        </p:nvSpPr>
        <p:spPr>
          <a:xfrm>
            <a:off x="2450591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ord:59:open"/>
          <p:cNvSpPr/>
          <p:nvPr/>
        </p:nvSpPr>
        <p:spPr>
          <a:xfrm>
            <a:off x="2715768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ord:60:open"/>
          <p:cNvSpPr/>
          <p:nvPr/>
        </p:nvSpPr>
        <p:spPr>
          <a:xfrm>
            <a:off x="2980944" y="2103120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ord:61:open"/>
          <p:cNvSpPr/>
          <p:nvPr/>
        </p:nvSpPr>
        <p:spPr>
          <a:xfrm>
            <a:off x="594360" y="236829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ord:62:open"/>
          <p:cNvSpPr/>
          <p:nvPr/>
        </p:nvSpPr>
        <p:spPr>
          <a:xfrm>
            <a:off x="859536" y="236829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ord:63:open"/>
          <p:cNvSpPr/>
          <p:nvPr/>
        </p:nvSpPr>
        <p:spPr>
          <a:xfrm>
            <a:off x="1124712" y="236829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ord:64:open"/>
          <p:cNvSpPr/>
          <p:nvPr/>
        </p:nvSpPr>
        <p:spPr>
          <a:xfrm>
            <a:off x="1389887" y="2368295"/>
            <a:ext cx="182880" cy="18288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ord:65:pending"/>
          <p:cNvSpPr/>
          <p:nvPr/>
        </p:nvSpPr>
        <p:spPr>
          <a:xfrm>
            <a:off x="1655063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ord:66:pending"/>
          <p:cNvSpPr/>
          <p:nvPr/>
        </p:nvSpPr>
        <p:spPr>
          <a:xfrm>
            <a:off x="1920240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ord:67:pending"/>
          <p:cNvSpPr/>
          <p:nvPr/>
        </p:nvSpPr>
        <p:spPr>
          <a:xfrm>
            <a:off x="2185415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ord:68:pending"/>
          <p:cNvSpPr/>
          <p:nvPr/>
        </p:nvSpPr>
        <p:spPr>
          <a:xfrm>
            <a:off x="2450591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ord:69:pending"/>
          <p:cNvSpPr/>
          <p:nvPr/>
        </p:nvSpPr>
        <p:spPr>
          <a:xfrm>
            <a:off x="2715768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ord:70:pending"/>
          <p:cNvSpPr/>
          <p:nvPr/>
        </p:nvSpPr>
        <p:spPr>
          <a:xfrm>
            <a:off x="2980944" y="2368295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ord:71:pending"/>
          <p:cNvSpPr/>
          <p:nvPr/>
        </p:nvSpPr>
        <p:spPr>
          <a:xfrm>
            <a:off x="594360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ord:72:pending"/>
          <p:cNvSpPr/>
          <p:nvPr/>
        </p:nvSpPr>
        <p:spPr>
          <a:xfrm>
            <a:off x="859536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ord:73:pending"/>
          <p:cNvSpPr/>
          <p:nvPr/>
        </p:nvSpPr>
        <p:spPr>
          <a:xfrm>
            <a:off x="1124712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ord:74:pending"/>
          <p:cNvSpPr/>
          <p:nvPr/>
        </p:nvSpPr>
        <p:spPr>
          <a:xfrm>
            <a:off x="1389887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ord:75:pending"/>
          <p:cNvSpPr/>
          <p:nvPr/>
        </p:nvSpPr>
        <p:spPr>
          <a:xfrm>
            <a:off x="1655063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ord:76:pending"/>
          <p:cNvSpPr/>
          <p:nvPr/>
        </p:nvSpPr>
        <p:spPr>
          <a:xfrm>
            <a:off x="1920240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ord:77:pending"/>
          <p:cNvSpPr/>
          <p:nvPr/>
        </p:nvSpPr>
        <p:spPr>
          <a:xfrm>
            <a:off x="2185415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ord:78:pending"/>
          <p:cNvSpPr/>
          <p:nvPr/>
        </p:nvSpPr>
        <p:spPr>
          <a:xfrm>
            <a:off x="2450591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ord:79:pending"/>
          <p:cNvSpPr/>
          <p:nvPr/>
        </p:nvSpPr>
        <p:spPr>
          <a:xfrm>
            <a:off x="2715768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ord:80:pending"/>
          <p:cNvSpPr/>
          <p:nvPr/>
        </p:nvSpPr>
        <p:spPr>
          <a:xfrm>
            <a:off x="2980944" y="2633471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ord:81:pending"/>
          <p:cNvSpPr/>
          <p:nvPr/>
        </p:nvSpPr>
        <p:spPr>
          <a:xfrm>
            <a:off x="594360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ord:82:pending"/>
          <p:cNvSpPr/>
          <p:nvPr/>
        </p:nvSpPr>
        <p:spPr>
          <a:xfrm>
            <a:off x="859536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ord:83:pending"/>
          <p:cNvSpPr/>
          <p:nvPr/>
        </p:nvSpPr>
        <p:spPr>
          <a:xfrm>
            <a:off x="1124712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ord:84:pending"/>
          <p:cNvSpPr/>
          <p:nvPr/>
        </p:nvSpPr>
        <p:spPr>
          <a:xfrm>
            <a:off x="1389887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ord:85:pending"/>
          <p:cNvSpPr/>
          <p:nvPr/>
        </p:nvSpPr>
        <p:spPr>
          <a:xfrm>
            <a:off x="1655063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ord:86:pending"/>
          <p:cNvSpPr/>
          <p:nvPr/>
        </p:nvSpPr>
        <p:spPr>
          <a:xfrm>
            <a:off x="1920240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ord:87:pending"/>
          <p:cNvSpPr/>
          <p:nvPr/>
        </p:nvSpPr>
        <p:spPr>
          <a:xfrm>
            <a:off x="2185415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ord:88:pending"/>
          <p:cNvSpPr/>
          <p:nvPr/>
        </p:nvSpPr>
        <p:spPr>
          <a:xfrm>
            <a:off x="2450591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ord:89:pending"/>
          <p:cNvSpPr/>
          <p:nvPr/>
        </p:nvSpPr>
        <p:spPr>
          <a:xfrm>
            <a:off x="2715768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ord:90:pending"/>
          <p:cNvSpPr/>
          <p:nvPr/>
        </p:nvSpPr>
        <p:spPr>
          <a:xfrm>
            <a:off x="2980944" y="2898647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ord:91:pending"/>
          <p:cNvSpPr/>
          <p:nvPr/>
        </p:nvSpPr>
        <p:spPr>
          <a:xfrm>
            <a:off x="594360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ord:92:pending"/>
          <p:cNvSpPr/>
          <p:nvPr/>
        </p:nvSpPr>
        <p:spPr>
          <a:xfrm>
            <a:off x="859536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ord:93:pending"/>
          <p:cNvSpPr/>
          <p:nvPr/>
        </p:nvSpPr>
        <p:spPr>
          <a:xfrm>
            <a:off x="1124712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ord:94:pending"/>
          <p:cNvSpPr/>
          <p:nvPr/>
        </p:nvSpPr>
        <p:spPr>
          <a:xfrm>
            <a:off x="1389887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ord:95:pending"/>
          <p:cNvSpPr/>
          <p:nvPr/>
        </p:nvSpPr>
        <p:spPr>
          <a:xfrm>
            <a:off x="1655063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ord:96:pending"/>
          <p:cNvSpPr/>
          <p:nvPr/>
        </p:nvSpPr>
        <p:spPr>
          <a:xfrm>
            <a:off x="1920240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ord:97:pending"/>
          <p:cNvSpPr/>
          <p:nvPr/>
        </p:nvSpPr>
        <p:spPr>
          <a:xfrm>
            <a:off x="2185415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ord:98:pending"/>
          <p:cNvSpPr/>
          <p:nvPr/>
        </p:nvSpPr>
        <p:spPr>
          <a:xfrm>
            <a:off x="2450591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ord:99:pending"/>
          <p:cNvSpPr/>
          <p:nvPr/>
        </p:nvSpPr>
        <p:spPr>
          <a:xfrm>
            <a:off x="2715768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ord:100:pending"/>
          <p:cNvSpPr/>
          <p:nvPr/>
        </p:nvSpPr>
        <p:spPr>
          <a:xfrm>
            <a:off x="2980944" y="3163823"/>
            <a:ext cx="182880" cy="182880"/>
          </a:xfrm>
          <a:prstGeom prst="ellipse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:64%"/>
          <p:cNvSpPr txBox="1"/>
          <p:nvPr/>
        </p:nvSpPr>
        <p:spPr>
          <a:xfrm>
            <a:off x="4023360" y="777240"/>
            <a:ext cx="512064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C3077"/>
                </a:solidFill>
                <a:latin typeface="Yu Gothic"/>
                <a:ea typeface="Yu Gothic"/>
              </a:rPr>
              <a:t>64%</a:t>
            </a:r>
          </a:p>
        </p:txBody>
      </p:sp>
      <p:sp>
        <p:nvSpPr>
          <p:cNvPr id="104" name="text:公開済み 64件 ／ 未公開 36件"/>
          <p:cNvSpPr txBox="1"/>
          <p:nvPr/>
        </p:nvSpPr>
        <p:spPr>
          <a:xfrm>
            <a:off x="4023360" y="1773936"/>
            <a:ext cx="557784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2304D"/>
                </a:solidFill>
                <a:latin typeface="Yu Gothic"/>
                <a:ea typeface="Yu Gothic"/>
              </a:rPr>
              <a:t>公開済み 64件 ／ 未公開 36件</a:t>
            </a:r>
          </a:p>
        </p:txBody>
      </p:sp>
      <p:sp>
        <p:nvSpPr>
          <p:cNvPr id="105" name="text:1つの点＝1件&#10;公開条件を満たしたデータを順次共有"/>
          <p:cNvSpPr txBox="1"/>
          <p:nvPr/>
        </p:nvSpPr>
        <p:spPr>
          <a:xfrm>
            <a:off x="4023360" y="2423160"/>
            <a:ext cx="585216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1つの点＝1件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公開条件を満たしたデータを順次共有</a:t>
            </a:r>
          </a:p>
        </p:txBody>
      </p:sp>
      <p:sp>
        <p:nvSpPr>
          <p:cNvPr id="106" name="legend:公開済み"/>
          <p:cNvSpPr/>
          <p:nvPr/>
        </p:nvSpPr>
        <p:spPr>
          <a:xfrm>
            <a:off x="4023360" y="3557015"/>
            <a:ext cx="155448" cy="155448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:公開済み"/>
          <p:cNvSpPr txBox="1"/>
          <p:nvPr/>
        </p:nvSpPr>
        <p:spPr>
          <a:xfrm>
            <a:off x="4251960" y="3438144"/>
            <a:ext cx="1965960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公開済み</a:t>
            </a:r>
          </a:p>
        </p:txBody>
      </p:sp>
      <p:sp>
        <p:nvSpPr>
          <p:cNvPr id="108" name="legend:未公開"/>
          <p:cNvSpPr/>
          <p:nvPr/>
        </p:nvSpPr>
        <p:spPr>
          <a:xfrm>
            <a:off x="6675120" y="3557015"/>
            <a:ext cx="155448" cy="155448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:未公開"/>
          <p:cNvSpPr txBox="1"/>
          <p:nvPr/>
        </p:nvSpPr>
        <p:spPr>
          <a:xfrm>
            <a:off x="6903720" y="3438144"/>
            <a:ext cx="1965960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未公開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ess_bubble_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研究テーマ × 工程の達成率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研究テーマ × 工程の達成率</a:t>
            </a:r>
          </a:p>
        </p:txBody>
      </p:sp>
      <p:sp>
        <p:nvSpPr>
          <p:cNvPr id="3" name="text:計画"/>
          <p:cNvSpPr txBox="1"/>
          <p:nvPr/>
        </p:nvSpPr>
        <p:spPr>
          <a:xfrm>
            <a:off x="2057400" y="530352"/>
            <a:ext cx="1417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計画</a:t>
            </a:r>
          </a:p>
        </p:txBody>
      </p:sp>
      <p:sp>
        <p:nvSpPr>
          <p:cNvPr id="4" name="text:試作"/>
          <p:cNvSpPr txBox="1"/>
          <p:nvPr/>
        </p:nvSpPr>
        <p:spPr>
          <a:xfrm>
            <a:off x="3886200" y="530352"/>
            <a:ext cx="1417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試作</a:t>
            </a:r>
          </a:p>
        </p:txBody>
      </p:sp>
      <p:sp>
        <p:nvSpPr>
          <p:cNvPr id="5" name="text:検証"/>
          <p:cNvSpPr txBox="1"/>
          <p:nvPr/>
        </p:nvSpPr>
        <p:spPr>
          <a:xfrm>
            <a:off x="5715000" y="530352"/>
            <a:ext cx="1417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検証</a:t>
            </a:r>
          </a:p>
        </p:txBody>
      </p:sp>
      <p:sp>
        <p:nvSpPr>
          <p:cNvPr id="6" name="text:データ基盤"/>
          <p:cNvSpPr txBox="1"/>
          <p:nvPr/>
        </p:nvSpPr>
        <p:spPr>
          <a:xfrm>
            <a:off x="292608" y="1124712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データ基盤</a:t>
            </a:r>
          </a:p>
        </p:txBody>
      </p:sp>
      <p:cxnSp>
        <p:nvCxnSpPr>
          <p:cNvPr id="7" name="connector"/>
          <p:cNvCxnSpPr/>
          <p:nvPr/>
        </p:nvCxnSpPr>
        <p:spPr>
          <a:xfrm>
            <a:off x="2011680" y="1737360"/>
            <a:ext cx="562356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rogress:0:0:100"/>
          <p:cNvSpPr/>
          <p:nvPr/>
        </p:nvSpPr>
        <p:spPr>
          <a:xfrm>
            <a:off x="2505456" y="987551"/>
            <a:ext cx="475488" cy="475488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100%"/>
          <p:cNvSpPr txBox="1"/>
          <p:nvPr/>
        </p:nvSpPr>
        <p:spPr>
          <a:xfrm>
            <a:off x="2148840" y="148132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100%</a:t>
            </a:r>
          </a:p>
        </p:txBody>
      </p:sp>
      <p:sp>
        <p:nvSpPr>
          <p:cNvPr id="10" name="progress:0:1:70"/>
          <p:cNvSpPr/>
          <p:nvPr/>
        </p:nvSpPr>
        <p:spPr>
          <a:xfrm>
            <a:off x="4373089" y="1026385"/>
            <a:ext cx="397821" cy="397821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70%"/>
          <p:cNvSpPr txBox="1"/>
          <p:nvPr/>
        </p:nvSpPr>
        <p:spPr>
          <a:xfrm>
            <a:off x="3977639" y="148132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70%</a:t>
            </a:r>
          </a:p>
        </p:txBody>
      </p:sp>
      <p:sp>
        <p:nvSpPr>
          <p:cNvPr id="12" name="progress:0:2:30"/>
          <p:cNvSpPr/>
          <p:nvPr/>
        </p:nvSpPr>
        <p:spPr>
          <a:xfrm>
            <a:off x="6270582" y="1095078"/>
            <a:ext cx="260435" cy="260435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30%"/>
          <p:cNvSpPr txBox="1"/>
          <p:nvPr/>
        </p:nvSpPr>
        <p:spPr>
          <a:xfrm>
            <a:off x="5806440" y="148132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30%</a:t>
            </a:r>
          </a:p>
        </p:txBody>
      </p:sp>
      <p:sp>
        <p:nvSpPr>
          <p:cNvPr id="14" name="text:解析手法"/>
          <p:cNvSpPr txBox="1"/>
          <p:nvPr/>
        </p:nvSpPr>
        <p:spPr>
          <a:xfrm>
            <a:off x="292608" y="1993392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解析手法</a:t>
            </a:r>
          </a:p>
        </p:txBody>
      </p:sp>
      <p:cxnSp>
        <p:nvCxnSpPr>
          <p:cNvPr id="15" name="connector"/>
          <p:cNvCxnSpPr/>
          <p:nvPr/>
        </p:nvCxnSpPr>
        <p:spPr>
          <a:xfrm>
            <a:off x="2011680" y="2606040"/>
            <a:ext cx="562356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rogress:1:0:100"/>
          <p:cNvSpPr/>
          <p:nvPr/>
        </p:nvSpPr>
        <p:spPr>
          <a:xfrm>
            <a:off x="2505456" y="1856232"/>
            <a:ext cx="475488" cy="475488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100%"/>
          <p:cNvSpPr txBox="1"/>
          <p:nvPr/>
        </p:nvSpPr>
        <p:spPr>
          <a:xfrm>
            <a:off x="2148840" y="235000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100%</a:t>
            </a:r>
          </a:p>
        </p:txBody>
      </p:sp>
      <p:sp>
        <p:nvSpPr>
          <p:cNvPr id="18" name="progress:1:1:60"/>
          <p:cNvSpPr/>
          <p:nvPr/>
        </p:nvSpPr>
        <p:spPr>
          <a:xfrm>
            <a:off x="4387844" y="1909820"/>
            <a:ext cx="368311" cy="368311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60%"/>
          <p:cNvSpPr txBox="1"/>
          <p:nvPr/>
        </p:nvSpPr>
        <p:spPr>
          <a:xfrm>
            <a:off x="3977639" y="235000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60%</a:t>
            </a:r>
          </a:p>
        </p:txBody>
      </p:sp>
      <p:sp>
        <p:nvSpPr>
          <p:cNvPr id="20" name="progress:1:2:10"/>
          <p:cNvSpPr/>
          <p:nvPr/>
        </p:nvSpPr>
        <p:spPr>
          <a:xfrm>
            <a:off x="6325618" y="2018794"/>
            <a:ext cx="150362" cy="150362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10%"/>
          <p:cNvSpPr txBox="1"/>
          <p:nvPr/>
        </p:nvSpPr>
        <p:spPr>
          <a:xfrm>
            <a:off x="5806440" y="235000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10%</a:t>
            </a:r>
          </a:p>
        </p:txBody>
      </p:sp>
      <p:sp>
        <p:nvSpPr>
          <p:cNvPr id="22" name="text:実証準備"/>
          <p:cNvSpPr txBox="1"/>
          <p:nvPr/>
        </p:nvSpPr>
        <p:spPr>
          <a:xfrm>
            <a:off x="292608" y="2862072"/>
            <a:ext cx="17373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実証準備</a:t>
            </a:r>
          </a:p>
        </p:txBody>
      </p:sp>
      <p:cxnSp>
        <p:nvCxnSpPr>
          <p:cNvPr id="23" name="connector"/>
          <p:cNvCxnSpPr/>
          <p:nvPr/>
        </p:nvCxnSpPr>
        <p:spPr>
          <a:xfrm>
            <a:off x="2011680" y="3474720"/>
            <a:ext cx="562356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rogress:2:0:90"/>
          <p:cNvSpPr/>
          <p:nvPr/>
        </p:nvSpPr>
        <p:spPr>
          <a:xfrm>
            <a:off x="2517656" y="2737112"/>
            <a:ext cx="451087" cy="451087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90%"/>
          <p:cNvSpPr txBox="1"/>
          <p:nvPr/>
        </p:nvSpPr>
        <p:spPr>
          <a:xfrm>
            <a:off x="2148840" y="321868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90%</a:t>
            </a:r>
          </a:p>
        </p:txBody>
      </p:sp>
      <p:sp>
        <p:nvSpPr>
          <p:cNvPr id="26" name="progress:2:1:40"/>
          <p:cNvSpPr/>
          <p:nvPr/>
        </p:nvSpPr>
        <p:spPr>
          <a:xfrm>
            <a:off x="4421637" y="2812293"/>
            <a:ext cx="300725" cy="300725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40%"/>
          <p:cNvSpPr txBox="1"/>
          <p:nvPr/>
        </p:nvSpPr>
        <p:spPr>
          <a:xfrm>
            <a:off x="3977639" y="321868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40%</a:t>
            </a:r>
          </a:p>
        </p:txBody>
      </p:sp>
      <p:sp>
        <p:nvSpPr>
          <p:cNvPr id="28" name="text:0%"/>
          <p:cNvSpPr txBox="1"/>
          <p:nvPr/>
        </p:nvSpPr>
        <p:spPr>
          <a:xfrm>
            <a:off x="5806440" y="3218688"/>
            <a:ext cx="11887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0%</a:t>
            </a:r>
          </a:p>
        </p:txBody>
      </p:sp>
      <p:sp>
        <p:nvSpPr>
          <p:cNvPr id="29" name="shape"/>
          <p:cNvSpPr/>
          <p:nvPr/>
        </p:nvSpPr>
        <p:spPr>
          <a:xfrm>
            <a:off x="7955279" y="960120"/>
            <a:ext cx="2331720" cy="26060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検証が次の焦点"/>
          <p:cNvSpPr txBox="1"/>
          <p:nvPr/>
        </p:nvSpPr>
        <p:spPr>
          <a:xfrm>
            <a:off x="8138160" y="1143000"/>
            <a:ext cx="20116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3077"/>
                </a:solidFill>
                <a:latin typeface="Yu Gothic"/>
                <a:ea typeface="Yu Gothic"/>
              </a:rPr>
              <a:t>検証が次の焦点</a:t>
            </a:r>
          </a:p>
        </p:txBody>
      </p:sp>
      <p:sp>
        <p:nvSpPr>
          <p:cNvPr id="31" name="text:試作を完了し&#10;検証へ移行する"/>
          <p:cNvSpPr txBox="1"/>
          <p:nvPr/>
        </p:nvSpPr>
        <p:spPr>
          <a:xfrm>
            <a:off x="8138160" y="1901952"/>
            <a:ext cx="1920240" cy="9144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試作を完了し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検証へ移行する</a:t>
            </a:r>
          </a:p>
        </p:txBody>
      </p:sp>
      <p:sp>
        <p:nvSpPr>
          <p:cNvPr id="32" name="text:円面積＝達成率&#10;0%は円なし"/>
          <p:cNvSpPr txBox="1"/>
          <p:nvPr/>
        </p:nvSpPr>
        <p:spPr>
          <a:xfrm>
            <a:off x="8138160" y="2889504"/>
            <a:ext cx="1965960" cy="5486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円面積＝達成率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0%は円なし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anked_bar_annotat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分野別の共同利用申請数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分野別の共同利用申請数</a:t>
            </a:r>
          </a:p>
        </p:txBody>
      </p:sp>
      <p:sp>
        <p:nvSpPr>
          <p:cNvPr id="3" name="text:申請件数（件）"/>
          <p:cNvSpPr txBox="1"/>
          <p:nvPr/>
        </p:nvSpPr>
        <p:spPr>
          <a:xfrm>
            <a:off x="365760" y="521207"/>
            <a:ext cx="5486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申請件数（件）</a:t>
            </a:r>
          </a:p>
        </p:txBody>
      </p:sp>
      <p:graphicFrame>
        <p:nvGraphicFramePr>
          <p:cNvPr id="4" name="chart:applications"/>
          <p:cNvGraphicFramePr>
            <a:graphicFrameLocks noGrp="1"/>
          </p:cNvGraphicFramePr>
          <p:nvPr/>
        </p:nvGraphicFramePr>
        <p:xfrm>
          <a:off x="228600" y="941832"/>
          <a:ext cx="72237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"/>
          <p:cNvSpPr/>
          <p:nvPr/>
        </p:nvSpPr>
        <p:spPr>
          <a:xfrm>
            <a:off x="7863840" y="1024128"/>
            <a:ext cx="2377440" cy="251460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上位2分野"/>
          <p:cNvSpPr txBox="1"/>
          <p:nvPr/>
        </p:nvSpPr>
        <p:spPr>
          <a:xfrm>
            <a:off x="8065008" y="1234440"/>
            <a:ext cx="201168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上位2分野</a:t>
            </a:r>
          </a:p>
        </p:txBody>
      </p:sp>
      <p:sp>
        <p:nvSpPr>
          <p:cNvPr id="7" name="text:32 / 48件"/>
          <p:cNvSpPr txBox="1"/>
          <p:nvPr/>
        </p:nvSpPr>
        <p:spPr>
          <a:xfrm>
            <a:off x="8065008" y="1856231"/>
            <a:ext cx="20116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C3077"/>
                </a:solidFill>
                <a:latin typeface="Yu Gothic"/>
                <a:ea typeface="Yu Gothic"/>
              </a:rPr>
              <a:t>32 / 48件</a:t>
            </a:r>
          </a:p>
        </p:txBody>
      </p:sp>
      <p:sp>
        <p:nvSpPr>
          <p:cNvPr id="8" name="text:全体の約67%&#10;支援枠の配分を検討"/>
          <p:cNvSpPr txBox="1"/>
          <p:nvPr/>
        </p:nvSpPr>
        <p:spPr>
          <a:xfrm>
            <a:off x="8065008" y="2606040"/>
            <a:ext cx="1965960" cy="6400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全体の約67%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支援枠の配分を検討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catter_annotat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研究候補の資源量と準備度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研究候補の資源量と準備度</a:t>
            </a:r>
          </a:p>
        </p:txBody>
      </p:sp>
      <p:sp>
        <p:nvSpPr>
          <p:cNvPr id="3" name="text:準備度（%）"/>
          <p:cNvSpPr txBox="1"/>
          <p:nvPr/>
        </p:nvSpPr>
        <p:spPr>
          <a:xfrm>
            <a:off x="347472" y="493776"/>
            <a:ext cx="36576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準備度（%）</a:t>
            </a:r>
          </a:p>
        </p:txBody>
      </p:sp>
      <p:graphicFrame>
        <p:nvGraphicFramePr>
          <p:cNvPr id="4" name="chart:readiness-cost"/>
          <p:cNvGraphicFramePr>
            <a:graphicFrameLocks noGrp="1"/>
          </p:cNvGraphicFramePr>
          <p:nvPr/>
        </p:nvGraphicFramePr>
        <p:xfrm>
          <a:off x="228600" y="923544"/>
          <a:ext cx="740664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:必要経費（万円）"/>
          <p:cNvSpPr txBox="1"/>
          <p:nvPr/>
        </p:nvSpPr>
        <p:spPr>
          <a:xfrm>
            <a:off x="5303520" y="3694176"/>
            <a:ext cx="2377440" cy="3108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必要経費（万円）</a:t>
            </a:r>
          </a:p>
        </p:txBody>
      </p:sp>
      <p:sp>
        <p:nvSpPr>
          <p:cNvPr id="6" name="shape"/>
          <p:cNvSpPr/>
          <p:nvPr/>
        </p:nvSpPr>
        <p:spPr>
          <a:xfrm>
            <a:off x="7955279" y="941832"/>
            <a:ext cx="2331720" cy="26609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解析Bを先行"/>
          <p:cNvSpPr txBox="1"/>
          <p:nvPr/>
        </p:nvSpPr>
        <p:spPr>
          <a:xfrm>
            <a:off x="8138160" y="1143000"/>
            <a:ext cx="1920240" cy="5486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C3077"/>
                </a:solidFill>
                <a:latin typeface="Yu Gothic"/>
                <a:ea typeface="Yu Gothic"/>
              </a:rPr>
              <a:t>解析Bを先行</a:t>
            </a:r>
          </a:p>
        </p:txBody>
      </p:sp>
      <p:sp>
        <p:nvSpPr>
          <p:cNvPr id="8" name="text:45万円・70%&#10;中程度の経費で&#10;準備度が最も高い"/>
          <p:cNvSpPr txBox="1"/>
          <p:nvPr/>
        </p:nvSpPr>
        <p:spPr>
          <a:xfrm>
            <a:off x="8138160" y="1874519"/>
            <a:ext cx="1920240" cy="13716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45万円・70%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中程度の経費で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準備度が最も高い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portional_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計画別の対象データ数（円面積が件数に比例）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計画別の対象データ数（円面積が件数に比例）</a:t>
            </a:r>
          </a:p>
        </p:txBody>
      </p:sp>
      <p:sp>
        <p:nvSpPr>
          <p:cNvPr id="3" name="area:25"/>
          <p:cNvSpPr/>
          <p:nvPr/>
        </p:nvSpPr>
        <p:spPr>
          <a:xfrm>
            <a:off x="1337310" y="1538478"/>
            <a:ext cx="982980" cy="982980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25"/>
          <p:cNvSpPr txBox="1"/>
          <p:nvPr/>
        </p:nvSpPr>
        <p:spPr>
          <a:xfrm>
            <a:off x="1337310" y="1828800"/>
            <a:ext cx="98298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25</a:t>
            </a:r>
          </a:p>
        </p:txBody>
      </p:sp>
      <p:sp>
        <p:nvSpPr>
          <p:cNvPr id="5" name="text:小規模  25件"/>
          <p:cNvSpPr txBox="1"/>
          <p:nvPr/>
        </p:nvSpPr>
        <p:spPr>
          <a:xfrm>
            <a:off x="594359" y="3264408"/>
            <a:ext cx="246888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小規模  25件</a:t>
            </a:r>
          </a:p>
        </p:txBody>
      </p:sp>
      <p:sp>
        <p:nvSpPr>
          <p:cNvPr id="6" name="area:50"/>
          <p:cNvSpPr/>
          <p:nvPr/>
        </p:nvSpPr>
        <p:spPr>
          <a:xfrm>
            <a:off x="4517008" y="1334896"/>
            <a:ext cx="1390143" cy="1390143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50"/>
          <p:cNvSpPr txBox="1"/>
          <p:nvPr/>
        </p:nvSpPr>
        <p:spPr>
          <a:xfrm>
            <a:off x="4517008" y="1828800"/>
            <a:ext cx="1390143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50</a:t>
            </a:r>
          </a:p>
        </p:txBody>
      </p:sp>
      <p:sp>
        <p:nvSpPr>
          <p:cNvPr id="8" name="text:中規模  50件"/>
          <p:cNvSpPr txBox="1"/>
          <p:nvPr/>
        </p:nvSpPr>
        <p:spPr>
          <a:xfrm>
            <a:off x="3977639" y="3264408"/>
            <a:ext cx="246888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中規模  50件</a:t>
            </a:r>
          </a:p>
        </p:txBody>
      </p:sp>
      <p:sp>
        <p:nvSpPr>
          <p:cNvPr id="9" name="area:100"/>
          <p:cNvSpPr/>
          <p:nvPr/>
        </p:nvSpPr>
        <p:spPr>
          <a:xfrm>
            <a:off x="7612380" y="1046988"/>
            <a:ext cx="1965960" cy="196596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100"/>
          <p:cNvSpPr txBox="1"/>
          <p:nvPr/>
        </p:nvSpPr>
        <p:spPr>
          <a:xfrm>
            <a:off x="7612380" y="1828800"/>
            <a:ext cx="19659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100</a:t>
            </a:r>
          </a:p>
        </p:txBody>
      </p:sp>
      <p:sp>
        <p:nvSpPr>
          <p:cNvPr id="11" name="text:広域  100件"/>
          <p:cNvSpPr txBox="1"/>
          <p:nvPr/>
        </p:nvSpPr>
        <p:spPr>
          <a:xfrm>
            <a:off x="7360920" y="3264408"/>
            <a:ext cx="246888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広域  100件</a:t>
            </a:r>
          </a:p>
        </p:txBody>
      </p:sp>
      <p:sp>
        <p:nvSpPr>
          <p:cNvPr id="12" name="text:面積比 1 : 2 : 4 ／ 同一単位・同一基準で比較"/>
          <p:cNvSpPr txBox="1"/>
          <p:nvPr/>
        </p:nvSpPr>
        <p:spPr>
          <a:xfrm>
            <a:off x="320040" y="3721608"/>
            <a:ext cx="9875520" cy="3017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面積比 1 : 2 : 4 ／ 同一単位・同一基準で比較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lta_bars_tota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支援枠の増減と期首・期末の合計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支援枠の増減と期首・期末の合計</a:t>
            </a:r>
          </a:p>
        </p:txBody>
      </p:sp>
      <p:sp>
        <p:nvSpPr>
          <p:cNvPr id="3" name="text:支援枠（件）"/>
          <p:cNvSpPr txBox="1"/>
          <p:nvPr/>
        </p:nvSpPr>
        <p:spPr>
          <a:xfrm>
            <a:off x="320040" y="502920"/>
            <a:ext cx="36576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支援枠（件）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914400" y="3383280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-20"/>
          <p:cNvSpPr txBox="1"/>
          <p:nvPr/>
        </p:nvSpPr>
        <p:spPr>
          <a:xfrm>
            <a:off x="301752" y="3236976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-20</a:t>
            </a:r>
          </a:p>
        </p:txBody>
      </p:sp>
      <p:cxnSp>
        <p:nvCxnSpPr>
          <p:cNvPr id="6" name="connector"/>
          <p:cNvCxnSpPr/>
          <p:nvPr/>
        </p:nvCxnSpPr>
        <p:spPr>
          <a:xfrm>
            <a:off x="914400" y="2968752"/>
            <a:ext cx="9144000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0"/>
          <p:cNvSpPr txBox="1"/>
          <p:nvPr/>
        </p:nvSpPr>
        <p:spPr>
          <a:xfrm>
            <a:off x="301752" y="2822448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8" name="connector"/>
          <p:cNvCxnSpPr/>
          <p:nvPr/>
        </p:nvCxnSpPr>
        <p:spPr>
          <a:xfrm>
            <a:off x="914400" y="2554224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20"/>
          <p:cNvSpPr txBox="1"/>
          <p:nvPr/>
        </p:nvSpPr>
        <p:spPr>
          <a:xfrm>
            <a:off x="301752" y="2407920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20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914400" y="2139696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40"/>
          <p:cNvSpPr txBox="1"/>
          <p:nvPr/>
        </p:nvSpPr>
        <p:spPr>
          <a:xfrm>
            <a:off x="301752" y="1993391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40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914400" y="1725168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60"/>
          <p:cNvSpPr txBox="1"/>
          <p:nvPr/>
        </p:nvSpPr>
        <p:spPr>
          <a:xfrm>
            <a:off x="301752" y="1578864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60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914400" y="1310640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80"/>
          <p:cNvSpPr txBox="1"/>
          <p:nvPr/>
        </p:nvSpPr>
        <p:spPr>
          <a:xfrm>
            <a:off x="301752" y="1164336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80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914400" y="896112"/>
            <a:ext cx="914400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100"/>
          <p:cNvSpPr txBox="1"/>
          <p:nvPr/>
        </p:nvSpPr>
        <p:spPr>
          <a:xfrm>
            <a:off x="301752" y="749808"/>
            <a:ext cx="475488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100</a:t>
            </a:r>
          </a:p>
        </p:txBody>
      </p:sp>
      <p:sp>
        <p:nvSpPr>
          <p:cNvPr id="18" name="delta:期首:64"/>
          <p:cNvSpPr/>
          <p:nvPr/>
        </p:nvSpPr>
        <p:spPr>
          <a:xfrm>
            <a:off x="1078992" y="1642262"/>
            <a:ext cx="768096" cy="1326489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64"/>
          <p:cNvSpPr txBox="1"/>
          <p:nvPr/>
        </p:nvSpPr>
        <p:spPr>
          <a:xfrm>
            <a:off x="822960" y="1239926"/>
            <a:ext cx="128016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64</a:t>
            </a:r>
          </a:p>
        </p:txBody>
      </p:sp>
      <p:sp>
        <p:nvSpPr>
          <p:cNvPr id="20" name="text:期首"/>
          <p:cNvSpPr txBox="1"/>
          <p:nvPr/>
        </p:nvSpPr>
        <p:spPr>
          <a:xfrm>
            <a:off x="685800" y="362102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期首</a:t>
            </a:r>
          </a:p>
        </p:txBody>
      </p:sp>
      <p:sp>
        <p:nvSpPr>
          <p:cNvPr id="21" name="delta:新規:18"/>
          <p:cNvSpPr/>
          <p:nvPr/>
        </p:nvSpPr>
        <p:spPr>
          <a:xfrm>
            <a:off x="3090672" y="2595676"/>
            <a:ext cx="768096" cy="373075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+18"/>
          <p:cNvSpPr txBox="1"/>
          <p:nvPr/>
        </p:nvSpPr>
        <p:spPr>
          <a:xfrm>
            <a:off x="2834639" y="2193340"/>
            <a:ext cx="128016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+18</a:t>
            </a:r>
          </a:p>
        </p:txBody>
      </p:sp>
      <p:sp>
        <p:nvSpPr>
          <p:cNvPr id="23" name="text:新規"/>
          <p:cNvSpPr txBox="1"/>
          <p:nvPr/>
        </p:nvSpPr>
        <p:spPr>
          <a:xfrm>
            <a:off x="2697479" y="362102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新規</a:t>
            </a:r>
          </a:p>
        </p:txBody>
      </p:sp>
      <p:sp>
        <p:nvSpPr>
          <p:cNvPr id="24" name="delta:終了:-8"/>
          <p:cNvSpPr/>
          <p:nvPr/>
        </p:nvSpPr>
        <p:spPr>
          <a:xfrm>
            <a:off x="5102352" y="2968752"/>
            <a:ext cx="768096" cy="165811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-8"/>
          <p:cNvSpPr txBox="1"/>
          <p:nvPr/>
        </p:nvSpPr>
        <p:spPr>
          <a:xfrm>
            <a:off x="4846320" y="3161995"/>
            <a:ext cx="128016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-8</a:t>
            </a:r>
          </a:p>
        </p:txBody>
      </p:sp>
      <p:sp>
        <p:nvSpPr>
          <p:cNvPr id="26" name="text:終了"/>
          <p:cNvSpPr txBox="1"/>
          <p:nvPr/>
        </p:nvSpPr>
        <p:spPr>
          <a:xfrm>
            <a:off x="4709160" y="362102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終了</a:t>
            </a:r>
          </a:p>
        </p:txBody>
      </p:sp>
      <p:sp>
        <p:nvSpPr>
          <p:cNvPr id="27" name="delta:再開:12"/>
          <p:cNvSpPr/>
          <p:nvPr/>
        </p:nvSpPr>
        <p:spPr>
          <a:xfrm>
            <a:off x="7114031" y="2720035"/>
            <a:ext cx="768096" cy="248716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+12"/>
          <p:cNvSpPr txBox="1"/>
          <p:nvPr/>
        </p:nvSpPr>
        <p:spPr>
          <a:xfrm>
            <a:off x="6857999" y="2317699"/>
            <a:ext cx="128016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+12</a:t>
            </a:r>
          </a:p>
        </p:txBody>
      </p:sp>
      <p:sp>
        <p:nvSpPr>
          <p:cNvPr id="29" name="text:再開"/>
          <p:cNvSpPr txBox="1"/>
          <p:nvPr/>
        </p:nvSpPr>
        <p:spPr>
          <a:xfrm>
            <a:off x="6720840" y="362102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再開</a:t>
            </a:r>
          </a:p>
        </p:txBody>
      </p:sp>
      <p:sp>
        <p:nvSpPr>
          <p:cNvPr id="30" name="delta:期末:86"/>
          <p:cNvSpPr/>
          <p:nvPr/>
        </p:nvSpPr>
        <p:spPr>
          <a:xfrm>
            <a:off x="9125712" y="1186281"/>
            <a:ext cx="768096" cy="178247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86"/>
          <p:cNvSpPr txBox="1"/>
          <p:nvPr/>
        </p:nvSpPr>
        <p:spPr>
          <a:xfrm>
            <a:off x="8869680" y="783945"/>
            <a:ext cx="128016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86</a:t>
            </a:r>
          </a:p>
        </p:txBody>
      </p:sp>
      <p:sp>
        <p:nvSpPr>
          <p:cNvPr id="32" name="text:期末"/>
          <p:cNvSpPr txBox="1"/>
          <p:nvPr/>
        </p:nvSpPr>
        <p:spPr>
          <a:xfrm>
            <a:off x="8732520" y="362102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cenario_lines_cag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用基盤の利用シナリオ（2026年＝100）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共用基盤の利用シナリオ（2026年＝100）</a:t>
            </a:r>
          </a:p>
        </p:txBody>
      </p:sp>
      <p:sp>
        <p:nvSpPr>
          <p:cNvPr id="3" name="text:利用指数"/>
          <p:cNvSpPr txBox="1"/>
          <p:nvPr/>
        </p:nvSpPr>
        <p:spPr>
          <a:xfrm>
            <a:off x="320040" y="502920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利用指数</a:t>
            </a:r>
          </a:p>
        </p:txBody>
      </p:sp>
      <p:graphicFrame>
        <p:nvGraphicFramePr>
          <p:cNvPr id="4" name="chart:scenarios"/>
          <p:cNvGraphicFramePr>
            <a:graphicFrameLocks noGrp="1"/>
          </p:cNvGraphicFramePr>
          <p:nvPr/>
        </p:nvGraphicFramePr>
        <p:xfrm>
          <a:off x="228600" y="914400"/>
          <a:ext cx="7406640" cy="28620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:年"/>
          <p:cNvSpPr txBox="1"/>
          <p:nvPr/>
        </p:nvSpPr>
        <p:spPr>
          <a:xfrm>
            <a:off x="7205472" y="3730752"/>
            <a:ext cx="457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年</a:t>
            </a:r>
          </a:p>
        </p:txBody>
      </p:sp>
      <p:sp>
        <p:nvSpPr>
          <p:cNvPr id="6" name="box:拡大  年率 20%&#10;2029年：172.8"/>
          <p:cNvSpPr/>
          <p:nvPr/>
        </p:nvSpPr>
        <p:spPr>
          <a:xfrm>
            <a:off x="7955279" y="914400"/>
            <a:ext cx="2331720" cy="69494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拡大  年率 20%&#10;2029年：172.8"/>
          <p:cNvSpPr txBox="1"/>
          <p:nvPr/>
        </p:nvSpPr>
        <p:spPr>
          <a:xfrm>
            <a:off x="8037575" y="946403"/>
            <a:ext cx="2167127" cy="6309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Yu Gothic"/>
                <a:ea typeface="Yu Gothic"/>
              </a:rPr>
              <a:t>拡大  年率 20%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Yu Gothic"/>
                <a:ea typeface="Yu Gothic"/>
              </a:rPr>
              <a:t>2029年：172.8</a:t>
            </a:r>
          </a:p>
        </p:txBody>
      </p:sp>
      <p:sp>
        <p:nvSpPr>
          <p:cNvPr id="8" name="box:標準  年率 10%&#10;2029年：133.1"/>
          <p:cNvSpPr/>
          <p:nvPr/>
        </p:nvSpPr>
        <p:spPr>
          <a:xfrm>
            <a:off x="7955279" y="1755648"/>
            <a:ext cx="2331720" cy="694944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標準  年率 10%&#10;2029年：133.1"/>
          <p:cNvSpPr txBox="1"/>
          <p:nvPr/>
        </p:nvSpPr>
        <p:spPr>
          <a:xfrm>
            <a:off x="8037575" y="1787651"/>
            <a:ext cx="2167127" cy="6309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標準  年率 10%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2029年：133.1</a:t>
            </a:r>
          </a:p>
        </p:txBody>
      </p:sp>
      <p:sp>
        <p:nvSpPr>
          <p:cNvPr id="10" name="box:慎重  年率 5%&#10;2029年：115.8"/>
          <p:cNvSpPr/>
          <p:nvPr/>
        </p:nvSpPr>
        <p:spPr>
          <a:xfrm>
            <a:off x="7955279" y="2596896"/>
            <a:ext cx="2331720" cy="694944"/>
          </a:xfrm>
          <a:prstGeom prst="rect">
            <a:avLst/>
          </a:prstGeom>
          <a:solidFill>
            <a:srgbClr val="B8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慎重  年率 5%&#10;2029年：115.8"/>
          <p:cNvSpPr txBox="1"/>
          <p:nvPr/>
        </p:nvSpPr>
        <p:spPr>
          <a:xfrm>
            <a:off x="8037575" y="2628900"/>
            <a:ext cx="2167127" cy="6309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慎重  年率 5%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2029年：115.8</a:t>
            </a:r>
          </a:p>
        </p:txBody>
      </p:sp>
      <p:sp>
        <p:nvSpPr>
          <p:cNvPr id="12" name="text:年率＝3期間のCAGR"/>
          <p:cNvSpPr txBox="1"/>
          <p:nvPr/>
        </p:nvSpPr>
        <p:spPr>
          <a:xfrm>
            <a:off x="7955279" y="3584448"/>
            <a:ext cx="23774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年率＝3期間のCAGR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wimlane_numbered_not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同利用の業務フローと改善論点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共同利用の業務フローと改善論点</a:t>
            </a:r>
          </a:p>
        </p:txBody>
      </p:sp>
      <p:sp>
        <p:nvSpPr>
          <p:cNvPr id="3" name="text:申請"/>
          <p:cNvSpPr txBox="1"/>
          <p:nvPr/>
        </p:nvSpPr>
        <p:spPr>
          <a:xfrm>
            <a:off x="1554480" y="530352"/>
            <a:ext cx="17830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申請</a:t>
            </a:r>
          </a:p>
        </p:txBody>
      </p:sp>
      <p:sp>
        <p:nvSpPr>
          <p:cNvPr id="4" name="text:審査"/>
          <p:cNvSpPr txBox="1"/>
          <p:nvPr/>
        </p:nvSpPr>
        <p:spPr>
          <a:xfrm>
            <a:off x="3611880" y="530352"/>
            <a:ext cx="17830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審査</a:t>
            </a:r>
          </a:p>
        </p:txBody>
      </p:sp>
      <p:sp>
        <p:nvSpPr>
          <p:cNvPr id="5" name="text:提供"/>
          <p:cNvSpPr txBox="1"/>
          <p:nvPr/>
        </p:nvSpPr>
        <p:spPr>
          <a:xfrm>
            <a:off x="5669280" y="530352"/>
            <a:ext cx="17830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提供</a:t>
            </a:r>
          </a:p>
        </p:txBody>
      </p:sp>
      <p:sp>
        <p:nvSpPr>
          <p:cNvPr id="6" name="shape"/>
          <p:cNvSpPr/>
          <p:nvPr/>
        </p:nvSpPr>
        <p:spPr>
          <a:xfrm>
            <a:off x="274320" y="1024128"/>
            <a:ext cx="7498079" cy="80467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研究者"/>
          <p:cNvSpPr txBox="1"/>
          <p:nvPr/>
        </p:nvSpPr>
        <p:spPr>
          <a:xfrm>
            <a:off x="393192" y="1207008"/>
            <a:ext cx="1051560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304D"/>
                </a:solidFill>
                <a:latin typeface="Yu Gothic"/>
                <a:ea typeface="Yu Gothic"/>
              </a:rPr>
              <a:t>研究者</a:t>
            </a:r>
          </a:p>
        </p:txBody>
      </p:sp>
      <p:sp>
        <p:nvSpPr>
          <p:cNvPr id="8" name="shape"/>
          <p:cNvSpPr/>
          <p:nvPr/>
        </p:nvSpPr>
        <p:spPr>
          <a:xfrm>
            <a:off x="274320" y="1911095"/>
            <a:ext cx="7498079" cy="804672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事務局"/>
          <p:cNvSpPr txBox="1"/>
          <p:nvPr/>
        </p:nvSpPr>
        <p:spPr>
          <a:xfrm>
            <a:off x="393192" y="2093976"/>
            <a:ext cx="1051560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304D"/>
                </a:solidFill>
                <a:latin typeface="Yu Gothic"/>
                <a:ea typeface="Yu Gothic"/>
              </a:rPr>
              <a:t>事務局</a:t>
            </a:r>
          </a:p>
        </p:txBody>
      </p:sp>
      <p:sp>
        <p:nvSpPr>
          <p:cNvPr id="10" name="shape"/>
          <p:cNvSpPr/>
          <p:nvPr/>
        </p:nvSpPr>
        <p:spPr>
          <a:xfrm>
            <a:off x="274320" y="2798064"/>
            <a:ext cx="7498079" cy="804672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基盤担当"/>
          <p:cNvSpPr txBox="1"/>
          <p:nvPr/>
        </p:nvSpPr>
        <p:spPr>
          <a:xfrm>
            <a:off x="393192" y="2980944"/>
            <a:ext cx="1051560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2304D"/>
                </a:solidFill>
                <a:latin typeface="Yu Gothic"/>
                <a:ea typeface="Yu Gothic"/>
              </a:rPr>
              <a:t>基盤担当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3291840" y="1408176"/>
            <a:ext cx="27432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"/>
          <p:cNvCxnSpPr/>
          <p:nvPr/>
        </p:nvCxnSpPr>
        <p:spPr>
          <a:xfrm>
            <a:off x="3566160" y="1408176"/>
            <a:ext cx="0" cy="896112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"/>
          <p:cNvCxnSpPr/>
          <p:nvPr/>
        </p:nvCxnSpPr>
        <p:spPr>
          <a:xfrm>
            <a:off x="3566160" y="2304288"/>
            <a:ext cx="13716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"/>
          <p:cNvCxnSpPr/>
          <p:nvPr/>
        </p:nvCxnSpPr>
        <p:spPr>
          <a:xfrm>
            <a:off x="5440680" y="2304288"/>
            <a:ext cx="210312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"/>
          <p:cNvCxnSpPr/>
          <p:nvPr/>
        </p:nvCxnSpPr>
        <p:spPr>
          <a:xfrm>
            <a:off x="5650992" y="2304288"/>
            <a:ext cx="0" cy="886968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5650992" y="3191256"/>
            <a:ext cx="10972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box:利用申請"/>
          <p:cNvSpPr/>
          <p:nvPr/>
        </p:nvSpPr>
        <p:spPr>
          <a:xfrm>
            <a:off x="1554480" y="1106424"/>
            <a:ext cx="1737360" cy="5943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利用申請"/>
          <p:cNvSpPr txBox="1"/>
          <p:nvPr/>
        </p:nvSpPr>
        <p:spPr>
          <a:xfrm>
            <a:off x="1636776" y="1138428"/>
            <a:ext cx="157276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利用申請</a:t>
            </a:r>
          </a:p>
        </p:txBody>
      </p:sp>
      <p:sp>
        <p:nvSpPr>
          <p:cNvPr id="20" name="box:適格性確認"/>
          <p:cNvSpPr/>
          <p:nvPr/>
        </p:nvSpPr>
        <p:spPr>
          <a:xfrm>
            <a:off x="3703320" y="1993392"/>
            <a:ext cx="1737360" cy="59436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適格性確認"/>
          <p:cNvSpPr txBox="1"/>
          <p:nvPr/>
        </p:nvSpPr>
        <p:spPr>
          <a:xfrm>
            <a:off x="3785615" y="2025396"/>
            <a:ext cx="157276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適格性確認</a:t>
            </a:r>
          </a:p>
        </p:txBody>
      </p:sp>
      <p:sp>
        <p:nvSpPr>
          <p:cNvPr id="22" name="box:権限を付与"/>
          <p:cNvSpPr/>
          <p:nvPr/>
        </p:nvSpPr>
        <p:spPr>
          <a:xfrm>
            <a:off x="5760720" y="2880360"/>
            <a:ext cx="1737360" cy="59436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権限を付与"/>
          <p:cNvSpPr txBox="1"/>
          <p:nvPr/>
        </p:nvSpPr>
        <p:spPr>
          <a:xfrm>
            <a:off x="5843016" y="2912364"/>
            <a:ext cx="157276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権限を付与</a:t>
            </a:r>
          </a:p>
        </p:txBody>
      </p:sp>
      <p:sp>
        <p:nvSpPr>
          <p:cNvPr id="24" name="circle"/>
          <p:cNvSpPr/>
          <p:nvPr/>
        </p:nvSpPr>
        <p:spPr>
          <a:xfrm>
            <a:off x="3022092" y="873251"/>
            <a:ext cx="320040" cy="3200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1"/>
          <p:cNvSpPr txBox="1"/>
          <p:nvPr/>
        </p:nvSpPr>
        <p:spPr>
          <a:xfrm>
            <a:off x="3026664" y="868680"/>
            <a:ext cx="31089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26" name="circle"/>
          <p:cNvSpPr/>
          <p:nvPr/>
        </p:nvSpPr>
        <p:spPr>
          <a:xfrm>
            <a:off x="5170932" y="1760220"/>
            <a:ext cx="320040" cy="3200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2"/>
          <p:cNvSpPr txBox="1"/>
          <p:nvPr/>
        </p:nvSpPr>
        <p:spPr>
          <a:xfrm>
            <a:off x="5175504" y="1755648"/>
            <a:ext cx="31089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28" name="shape"/>
          <p:cNvSpPr/>
          <p:nvPr/>
        </p:nvSpPr>
        <p:spPr>
          <a:xfrm>
            <a:off x="8074152" y="1024128"/>
            <a:ext cx="2212848" cy="2569464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改善論点"/>
          <p:cNvSpPr txBox="1"/>
          <p:nvPr/>
        </p:nvSpPr>
        <p:spPr>
          <a:xfrm>
            <a:off x="8229600" y="1161288"/>
            <a:ext cx="1920240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改善論点</a:t>
            </a:r>
          </a:p>
        </p:txBody>
      </p:sp>
      <p:sp>
        <p:nvSpPr>
          <p:cNvPr id="30" name="text:1  入力の重複&#10;    共通フォームへ"/>
          <p:cNvSpPr txBox="1"/>
          <p:nvPr/>
        </p:nvSpPr>
        <p:spPr>
          <a:xfrm>
            <a:off x="8229600" y="1810512"/>
            <a:ext cx="1920240" cy="7223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1  入力の重複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    共通フォームへ</a:t>
            </a:r>
          </a:p>
        </p:txBody>
      </p:sp>
      <p:sp>
        <p:nvSpPr>
          <p:cNvPr id="31" name="text:2  確認の滞留&#10;    期限を可視化"/>
          <p:cNvSpPr txBox="1"/>
          <p:nvPr/>
        </p:nvSpPr>
        <p:spPr>
          <a:xfrm>
            <a:off x="8229600" y="2724912"/>
            <a:ext cx="1920240" cy="7223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2  確認の滞留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    期限を可視化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ront_back_two_ti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利用者の体験と裏側の処理を対応づける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利用者の体験と裏側の処理を対応づける</a:t>
            </a:r>
          </a:p>
        </p:txBody>
      </p:sp>
      <p:sp>
        <p:nvSpPr>
          <p:cNvPr id="3" name="text:利用者"/>
          <p:cNvSpPr txBox="1"/>
          <p:nvPr/>
        </p:nvSpPr>
        <p:spPr>
          <a:xfrm>
            <a:off x="292608" y="658368"/>
            <a:ext cx="114300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利用者</a:t>
            </a:r>
          </a:p>
        </p:txBody>
      </p:sp>
      <p:sp>
        <p:nvSpPr>
          <p:cNvPr id="4" name="text:運用側"/>
          <p:cNvSpPr txBox="1"/>
          <p:nvPr/>
        </p:nvSpPr>
        <p:spPr>
          <a:xfrm>
            <a:off x="292608" y="2468880"/>
            <a:ext cx="114300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運用側</a:t>
            </a:r>
          </a:p>
        </p:txBody>
      </p:sp>
      <p:sp>
        <p:nvSpPr>
          <p:cNvPr id="5" name="box:申請する"/>
          <p:cNvSpPr/>
          <p:nvPr/>
        </p:nvSpPr>
        <p:spPr>
          <a:xfrm>
            <a:off x="1600200" y="896112"/>
            <a:ext cx="1874519" cy="8229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申請する"/>
          <p:cNvSpPr txBox="1"/>
          <p:nvPr/>
        </p:nvSpPr>
        <p:spPr>
          <a:xfrm>
            <a:off x="1682496" y="928115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申請する</a:t>
            </a:r>
          </a:p>
        </p:txBody>
      </p:sp>
      <p:sp>
        <p:nvSpPr>
          <p:cNvPr id="7" name="box:受付を登録"/>
          <p:cNvSpPr/>
          <p:nvPr/>
        </p:nvSpPr>
        <p:spPr>
          <a:xfrm>
            <a:off x="1600200" y="2606040"/>
            <a:ext cx="1874519" cy="8229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受付を登録"/>
          <p:cNvSpPr txBox="1"/>
          <p:nvPr/>
        </p:nvSpPr>
        <p:spPr>
          <a:xfrm>
            <a:off x="1682496" y="2638044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受付を登録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2537460" y="1755648"/>
            <a:ext cx="0" cy="78638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>
            <a:off x="3502152" y="1307592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"/>
          <p:cNvCxnSpPr/>
          <p:nvPr/>
        </p:nvCxnSpPr>
        <p:spPr>
          <a:xfrm>
            <a:off x="3502152" y="3017520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ox:進捗を見る"/>
          <p:cNvSpPr/>
          <p:nvPr/>
        </p:nvSpPr>
        <p:spPr>
          <a:xfrm>
            <a:off x="3767328" y="896112"/>
            <a:ext cx="1874519" cy="8229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進捗を見る"/>
          <p:cNvSpPr txBox="1"/>
          <p:nvPr/>
        </p:nvSpPr>
        <p:spPr>
          <a:xfrm>
            <a:off x="3849624" y="928115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進捗を見る</a:t>
            </a:r>
          </a:p>
        </p:txBody>
      </p:sp>
      <p:sp>
        <p:nvSpPr>
          <p:cNvPr id="14" name="box:審査を管理"/>
          <p:cNvSpPr/>
          <p:nvPr/>
        </p:nvSpPr>
        <p:spPr>
          <a:xfrm>
            <a:off x="3767328" y="2606040"/>
            <a:ext cx="1874519" cy="8229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審査を管理"/>
          <p:cNvSpPr txBox="1"/>
          <p:nvPr/>
        </p:nvSpPr>
        <p:spPr>
          <a:xfrm>
            <a:off x="3849624" y="2638044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審査を管理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4704588" y="1755648"/>
            <a:ext cx="0" cy="78638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"/>
          <p:cNvCxnSpPr/>
          <p:nvPr/>
        </p:nvCxnSpPr>
        <p:spPr>
          <a:xfrm>
            <a:off x="5669280" y="1307592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"/>
          <p:cNvCxnSpPr/>
          <p:nvPr/>
        </p:nvCxnSpPr>
        <p:spPr>
          <a:xfrm>
            <a:off x="5669280" y="3017520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ox:データを受領"/>
          <p:cNvSpPr/>
          <p:nvPr/>
        </p:nvSpPr>
        <p:spPr>
          <a:xfrm>
            <a:off x="5934456" y="896112"/>
            <a:ext cx="1874519" cy="8229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データを受領"/>
          <p:cNvSpPr txBox="1"/>
          <p:nvPr/>
        </p:nvSpPr>
        <p:spPr>
          <a:xfrm>
            <a:off x="6016752" y="928115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データを受領</a:t>
            </a:r>
          </a:p>
        </p:txBody>
      </p:sp>
      <p:sp>
        <p:nvSpPr>
          <p:cNvPr id="21" name="box:権限を付与"/>
          <p:cNvSpPr/>
          <p:nvPr/>
        </p:nvSpPr>
        <p:spPr>
          <a:xfrm>
            <a:off x="5934456" y="2606040"/>
            <a:ext cx="1874519" cy="8229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権限を付与"/>
          <p:cNvSpPr txBox="1"/>
          <p:nvPr/>
        </p:nvSpPr>
        <p:spPr>
          <a:xfrm>
            <a:off x="6016752" y="2638044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権限を付与</a:t>
            </a:r>
          </a:p>
        </p:txBody>
      </p:sp>
      <p:cxnSp>
        <p:nvCxnSpPr>
          <p:cNvPr id="23" name="connector"/>
          <p:cNvCxnSpPr/>
          <p:nvPr/>
        </p:nvCxnSpPr>
        <p:spPr>
          <a:xfrm>
            <a:off x="6871716" y="1755648"/>
            <a:ext cx="0" cy="78638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"/>
          <p:cNvCxnSpPr/>
          <p:nvPr/>
        </p:nvCxnSpPr>
        <p:spPr>
          <a:xfrm>
            <a:off x="7836408" y="1307592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"/>
          <p:cNvCxnSpPr/>
          <p:nvPr/>
        </p:nvCxnSpPr>
        <p:spPr>
          <a:xfrm>
            <a:off x="7836408" y="3017520"/>
            <a:ext cx="21945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ox:再利用する"/>
          <p:cNvSpPr/>
          <p:nvPr/>
        </p:nvSpPr>
        <p:spPr>
          <a:xfrm>
            <a:off x="8101583" y="896112"/>
            <a:ext cx="1874519" cy="8229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再利用する"/>
          <p:cNvSpPr txBox="1"/>
          <p:nvPr/>
        </p:nvSpPr>
        <p:spPr>
          <a:xfrm>
            <a:off x="8183879" y="928115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</a:rPr>
              <a:t>再利用する</a:t>
            </a:r>
          </a:p>
        </p:txBody>
      </p:sp>
      <p:sp>
        <p:nvSpPr>
          <p:cNvPr id="28" name="box:履歴を記録"/>
          <p:cNvSpPr/>
          <p:nvPr/>
        </p:nvSpPr>
        <p:spPr>
          <a:xfrm>
            <a:off x="8101583" y="2606040"/>
            <a:ext cx="1874519" cy="8229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履歴を記録"/>
          <p:cNvSpPr txBox="1"/>
          <p:nvPr/>
        </p:nvSpPr>
        <p:spPr>
          <a:xfrm>
            <a:off x="8183879" y="2638044"/>
            <a:ext cx="170992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履歴を記録</a:t>
            </a:r>
          </a:p>
        </p:txBody>
      </p:sp>
      <p:cxnSp>
        <p:nvCxnSpPr>
          <p:cNvPr id="30" name="connector"/>
          <p:cNvCxnSpPr/>
          <p:nvPr/>
        </p:nvCxnSpPr>
        <p:spPr>
          <a:xfrm>
            <a:off x="9038844" y="1755648"/>
            <a:ext cx="0" cy="78638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上下の列は同じ業務段階に対応"/>
          <p:cNvSpPr txBox="1"/>
          <p:nvPr/>
        </p:nvSpPr>
        <p:spPr>
          <a:xfrm>
            <a:off x="1600200" y="3675887"/>
            <a:ext cx="822960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上下の列は同じ業務段階に対応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hart_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用設備の利用件数と次期の検討事項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共用設備の利用件数と次期の検討事項</a:t>
            </a:r>
          </a:p>
        </p:txBody>
      </p:sp>
      <p:sp>
        <p:nvSpPr>
          <p:cNvPr id="3" name="text:利用件数（件）"/>
          <p:cNvSpPr txBox="1"/>
          <p:nvPr/>
        </p:nvSpPr>
        <p:spPr>
          <a:xfrm>
            <a:off x="365760" y="502920"/>
            <a:ext cx="36576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利用件数（件）</a:t>
            </a:r>
          </a:p>
        </p:txBody>
      </p:sp>
      <p:graphicFrame>
        <p:nvGraphicFramePr>
          <p:cNvPr id="4" name="chart:quarterly-use"/>
          <p:cNvGraphicFramePr>
            <a:graphicFrameLocks noGrp="1"/>
          </p:cNvGraphicFramePr>
          <p:nvPr/>
        </p:nvGraphicFramePr>
        <p:xfrm>
          <a:off x="228600" y="905256"/>
          <a:ext cx="6675120" cy="29626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"/>
          <p:cNvSpPr/>
          <p:nvPr/>
        </p:nvSpPr>
        <p:spPr>
          <a:xfrm>
            <a:off x="7223760" y="960120"/>
            <a:ext cx="3063240" cy="2724912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24 → 48件"/>
          <p:cNvSpPr txBox="1"/>
          <p:nvPr/>
        </p:nvSpPr>
        <p:spPr>
          <a:xfrm>
            <a:off x="7406640" y="1143000"/>
            <a:ext cx="2697480" cy="5577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C3077"/>
                </a:solidFill>
                <a:latin typeface="Yu Gothic"/>
                <a:ea typeface="Yu Gothic"/>
              </a:rPr>
              <a:t>24 → 48件</a:t>
            </a:r>
          </a:p>
        </p:txBody>
      </p:sp>
      <p:sp>
        <p:nvSpPr>
          <p:cNvPr id="7" name="text:期初比 2.0倍"/>
          <p:cNvSpPr txBox="1"/>
          <p:nvPr/>
        </p:nvSpPr>
        <p:spPr>
          <a:xfrm>
            <a:off x="7406640" y="1837943"/>
            <a:ext cx="269748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304D"/>
                </a:solidFill>
                <a:latin typeface="Yu Gothic"/>
                <a:ea typeface="Yu Gothic"/>
              </a:rPr>
              <a:t>期初比 2.0倍</a:t>
            </a:r>
          </a:p>
        </p:txBody>
      </p:sp>
      <p:cxnSp>
        <p:nvCxnSpPr>
          <p:cNvPr id="8" name="connector"/>
          <p:cNvCxnSpPr/>
          <p:nvPr/>
        </p:nvCxnSpPr>
        <p:spPr>
          <a:xfrm>
            <a:off x="7406640" y="2423160"/>
            <a:ext cx="267919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次期は予約枠の拡張と&#10;保守時間の確保を検討"/>
          <p:cNvSpPr txBox="1"/>
          <p:nvPr/>
        </p:nvSpPr>
        <p:spPr>
          <a:xfrm>
            <a:off x="7406640" y="2606040"/>
            <a:ext cx="2697480" cy="8229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次期は予約枠の拡張と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保守時間の確保を検討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tacked_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利用目的の構成変化（全体件数も表示）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利用目的の構成変化（全体件数も表示）</a:t>
            </a:r>
          </a:p>
        </p:txBody>
      </p:sp>
      <p:sp>
        <p:nvSpPr>
          <p:cNvPr id="3" name="text:利用件数（件）"/>
          <p:cNvSpPr txBox="1"/>
          <p:nvPr/>
        </p:nvSpPr>
        <p:spPr>
          <a:xfrm>
            <a:off x="365760" y="512064"/>
            <a:ext cx="36576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利用件数（件）</a:t>
            </a:r>
          </a:p>
        </p:txBody>
      </p:sp>
      <p:graphicFrame>
        <p:nvGraphicFramePr>
          <p:cNvPr id="4" name="chart:purpose"/>
          <p:cNvGraphicFramePr>
            <a:graphicFrameLocks noGrp="1"/>
          </p:cNvGraphicFramePr>
          <p:nvPr/>
        </p:nvGraphicFramePr>
        <p:xfrm>
          <a:off x="320040" y="914400"/>
          <a:ext cx="7360920" cy="29077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:合計"/>
          <p:cNvSpPr txBox="1"/>
          <p:nvPr/>
        </p:nvSpPr>
        <p:spPr>
          <a:xfrm>
            <a:off x="8046720" y="1051560"/>
            <a:ext cx="192024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合計</a:t>
            </a:r>
          </a:p>
        </p:txBody>
      </p:sp>
      <p:sp>
        <p:nvSpPr>
          <p:cNvPr id="6" name="text:前期  40件"/>
          <p:cNvSpPr txBox="1"/>
          <p:nvPr/>
        </p:nvSpPr>
        <p:spPr>
          <a:xfrm>
            <a:off x="8046720" y="1755648"/>
            <a:ext cx="219456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前期  40件</a:t>
            </a:r>
          </a:p>
        </p:txBody>
      </p:sp>
      <p:sp>
        <p:nvSpPr>
          <p:cNvPr id="7" name="text:当期  60件"/>
          <p:cNvSpPr txBox="1"/>
          <p:nvPr/>
        </p:nvSpPr>
        <p:spPr>
          <a:xfrm>
            <a:off x="8046720" y="2359152"/>
            <a:ext cx="219456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当期  60件</a:t>
            </a:r>
          </a:p>
        </p:txBody>
      </p:sp>
      <p:sp>
        <p:nvSpPr>
          <p:cNvPr id="8" name="text:次期案  80件"/>
          <p:cNvSpPr txBox="1"/>
          <p:nvPr/>
        </p:nvSpPr>
        <p:spPr>
          <a:xfrm>
            <a:off x="8046720" y="2962656"/>
            <a:ext cx="219456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次期案  80件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支援額の寄与度ブリッジ：40 + 20 − 10 + 15 = 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支援額の寄与度ブリッジ：40 + 20 − 10 + 15 = 65</a:t>
            </a:r>
          </a:p>
        </p:txBody>
      </p:sp>
      <p:sp>
        <p:nvSpPr>
          <p:cNvPr id="3" name="text:支援額（万円）"/>
          <p:cNvSpPr txBox="1"/>
          <p:nvPr/>
        </p:nvSpPr>
        <p:spPr>
          <a:xfrm>
            <a:off x="868680" y="512064"/>
            <a:ext cx="9125712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支援額（万円）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960120" y="3355848"/>
            <a:ext cx="9125712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0"/>
          <p:cNvSpPr txBox="1"/>
          <p:nvPr/>
        </p:nvSpPr>
        <p:spPr>
          <a:xfrm>
            <a:off x="365760" y="319125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6" name="connector"/>
          <p:cNvCxnSpPr/>
          <p:nvPr/>
        </p:nvCxnSpPr>
        <p:spPr>
          <a:xfrm>
            <a:off x="960120" y="2756915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20"/>
          <p:cNvSpPr txBox="1"/>
          <p:nvPr/>
        </p:nvSpPr>
        <p:spPr>
          <a:xfrm>
            <a:off x="365760" y="2592323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20</a:t>
            </a:r>
          </a:p>
        </p:txBody>
      </p:sp>
      <p:cxnSp>
        <p:nvCxnSpPr>
          <p:cNvPr id="8" name="connector"/>
          <p:cNvCxnSpPr/>
          <p:nvPr/>
        </p:nvCxnSpPr>
        <p:spPr>
          <a:xfrm>
            <a:off x="960120" y="2157984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40"/>
          <p:cNvSpPr txBox="1"/>
          <p:nvPr/>
        </p:nvSpPr>
        <p:spPr>
          <a:xfrm>
            <a:off x="365760" y="1993391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40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960120" y="1559051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60"/>
          <p:cNvSpPr txBox="1"/>
          <p:nvPr/>
        </p:nvSpPr>
        <p:spPr>
          <a:xfrm>
            <a:off x="365760" y="1394459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60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960120" y="960119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80"/>
          <p:cNvSpPr txBox="1"/>
          <p:nvPr/>
        </p:nvSpPr>
        <p:spPr>
          <a:xfrm>
            <a:off x="365760" y="795527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80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960120" y="960120"/>
            <a:ext cx="0" cy="2395728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ridge:期首:0:40"/>
          <p:cNvSpPr/>
          <p:nvPr/>
        </p:nvSpPr>
        <p:spPr>
          <a:xfrm>
            <a:off x="1161288" y="2157984"/>
            <a:ext cx="786384" cy="119786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40"/>
          <p:cNvSpPr txBox="1"/>
          <p:nvPr/>
        </p:nvSpPr>
        <p:spPr>
          <a:xfrm>
            <a:off x="914400" y="1764792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40</a:t>
            </a:r>
          </a:p>
        </p:txBody>
      </p:sp>
      <p:sp>
        <p:nvSpPr>
          <p:cNvPr id="17" name="text:期首"/>
          <p:cNvSpPr txBox="1"/>
          <p:nvPr/>
        </p:nvSpPr>
        <p:spPr>
          <a:xfrm>
            <a:off x="68580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期首</a:t>
            </a:r>
          </a:p>
        </p:txBody>
      </p:sp>
      <p:cxnSp>
        <p:nvCxnSpPr>
          <p:cNvPr id="18" name="bridge-link:40"/>
          <p:cNvCxnSpPr/>
          <p:nvPr/>
        </p:nvCxnSpPr>
        <p:spPr>
          <a:xfrm>
            <a:off x="1947672" y="2157984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ridge:新規採択:40:60"/>
          <p:cNvSpPr/>
          <p:nvPr/>
        </p:nvSpPr>
        <p:spPr>
          <a:xfrm>
            <a:off x="3172968" y="1559051"/>
            <a:ext cx="786384" cy="598932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+20"/>
          <p:cNvSpPr txBox="1"/>
          <p:nvPr/>
        </p:nvSpPr>
        <p:spPr>
          <a:xfrm>
            <a:off x="2926080" y="1165859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+20</a:t>
            </a:r>
          </a:p>
        </p:txBody>
      </p:sp>
      <p:sp>
        <p:nvSpPr>
          <p:cNvPr id="21" name="text:新規採択"/>
          <p:cNvSpPr txBox="1"/>
          <p:nvPr/>
        </p:nvSpPr>
        <p:spPr>
          <a:xfrm>
            <a:off x="269748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新規採択</a:t>
            </a:r>
          </a:p>
        </p:txBody>
      </p:sp>
      <p:cxnSp>
        <p:nvCxnSpPr>
          <p:cNvPr id="22" name="bridge-link:60"/>
          <p:cNvCxnSpPr/>
          <p:nvPr/>
        </p:nvCxnSpPr>
        <p:spPr>
          <a:xfrm>
            <a:off x="3959352" y="1559051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bridge:終了:60:50"/>
          <p:cNvSpPr/>
          <p:nvPr/>
        </p:nvSpPr>
        <p:spPr>
          <a:xfrm>
            <a:off x="5184648" y="1559051"/>
            <a:ext cx="786384" cy="299466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-10"/>
          <p:cNvSpPr txBox="1"/>
          <p:nvPr/>
        </p:nvSpPr>
        <p:spPr>
          <a:xfrm>
            <a:off x="4937760" y="1165859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-10</a:t>
            </a:r>
          </a:p>
        </p:txBody>
      </p:sp>
      <p:sp>
        <p:nvSpPr>
          <p:cNvPr id="25" name="text:終了"/>
          <p:cNvSpPr txBox="1"/>
          <p:nvPr/>
        </p:nvSpPr>
        <p:spPr>
          <a:xfrm>
            <a:off x="470916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終了</a:t>
            </a:r>
          </a:p>
        </p:txBody>
      </p:sp>
      <p:cxnSp>
        <p:nvCxnSpPr>
          <p:cNvPr id="26" name="bridge-link:50"/>
          <p:cNvCxnSpPr/>
          <p:nvPr/>
        </p:nvCxnSpPr>
        <p:spPr>
          <a:xfrm>
            <a:off x="5971032" y="1858517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ridge:追加支援:50:65"/>
          <p:cNvSpPr/>
          <p:nvPr/>
        </p:nvSpPr>
        <p:spPr>
          <a:xfrm>
            <a:off x="7196328" y="1409318"/>
            <a:ext cx="786384" cy="449198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+15"/>
          <p:cNvSpPr txBox="1"/>
          <p:nvPr/>
        </p:nvSpPr>
        <p:spPr>
          <a:xfrm>
            <a:off x="6949440" y="1016126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+15</a:t>
            </a:r>
          </a:p>
        </p:txBody>
      </p:sp>
      <p:sp>
        <p:nvSpPr>
          <p:cNvPr id="29" name="text:追加支援"/>
          <p:cNvSpPr txBox="1"/>
          <p:nvPr/>
        </p:nvSpPr>
        <p:spPr>
          <a:xfrm>
            <a:off x="672084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追加支援</a:t>
            </a:r>
          </a:p>
        </p:txBody>
      </p:sp>
      <p:cxnSp>
        <p:nvCxnSpPr>
          <p:cNvPr id="30" name="bridge-link:65"/>
          <p:cNvCxnSpPr/>
          <p:nvPr/>
        </p:nvCxnSpPr>
        <p:spPr>
          <a:xfrm>
            <a:off x="7982712" y="1409318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bridge:期末:0:65"/>
          <p:cNvSpPr/>
          <p:nvPr/>
        </p:nvSpPr>
        <p:spPr>
          <a:xfrm>
            <a:off x="9208008" y="1409318"/>
            <a:ext cx="786384" cy="1946529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65"/>
          <p:cNvSpPr txBox="1"/>
          <p:nvPr/>
        </p:nvSpPr>
        <p:spPr>
          <a:xfrm>
            <a:off x="8961120" y="1016126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65</a:t>
            </a:r>
          </a:p>
        </p:txBody>
      </p:sp>
      <p:sp>
        <p:nvSpPr>
          <p:cNvPr id="33" name="text:期末"/>
          <p:cNvSpPr txBox="1"/>
          <p:nvPr/>
        </p:nvSpPr>
        <p:spPr>
          <a:xfrm>
            <a:off x="873252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rue_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起点から着地までの厳密な増減：80 + 30 − 20 + 10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起点から着地までの厳密な増減：80 + 30 − 20 + 10 = 100</a:t>
            </a:r>
          </a:p>
        </p:txBody>
      </p:sp>
      <p:sp>
        <p:nvSpPr>
          <p:cNvPr id="3" name="text:支援額（万円）"/>
          <p:cNvSpPr txBox="1"/>
          <p:nvPr/>
        </p:nvSpPr>
        <p:spPr>
          <a:xfrm>
            <a:off x="868680" y="512064"/>
            <a:ext cx="9125712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支援額（万円）</a:t>
            </a:r>
          </a:p>
        </p:txBody>
      </p:sp>
      <p:cxnSp>
        <p:nvCxnSpPr>
          <p:cNvPr id="4" name="connector"/>
          <p:cNvCxnSpPr/>
          <p:nvPr/>
        </p:nvCxnSpPr>
        <p:spPr>
          <a:xfrm>
            <a:off x="960120" y="3355848"/>
            <a:ext cx="9125712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:0"/>
          <p:cNvSpPr txBox="1"/>
          <p:nvPr/>
        </p:nvSpPr>
        <p:spPr>
          <a:xfrm>
            <a:off x="365760" y="319125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6" name="connector"/>
          <p:cNvCxnSpPr/>
          <p:nvPr/>
        </p:nvCxnSpPr>
        <p:spPr>
          <a:xfrm>
            <a:off x="960120" y="2956560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:20"/>
          <p:cNvSpPr txBox="1"/>
          <p:nvPr/>
        </p:nvSpPr>
        <p:spPr>
          <a:xfrm>
            <a:off x="365760" y="2791968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20</a:t>
            </a:r>
          </a:p>
        </p:txBody>
      </p:sp>
      <p:cxnSp>
        <p:nvCxnSpPr>
          <p:cNvPr id="8" name="connector"/>
          <p:cNvCxnSpPr/>
          <p:nvPr/>
        </p:nvCxnSpPr>
        <p:spPr>
          <a:xfrm>
            <a:off x="960120" y="2557272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:40"/>
          <p:cNvSpPr txBox="1"/>
          <p:nvPr/>
        </p:nvSpPr>
        <p:spPr>
          <a:xfrm>
            <a:off x="365760" y="2392679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40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960120" y="2157984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60"/>
          <p:cNvSpPr txBox="1"/>
          <p:nvPr/>
        </p:nvSpPr>
        <p:spPr>
          <a:xfrm>
            <a:off x="365760" y="1993391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60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960120" y="1758695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:80"/>
          <p:cNvSpPr txBox="1"/>
          <p:nvPr/>
        </p:nvSpPr>
        <p:spPr>
          <a:xfrm>
            <a:off x="365760" y="1594103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80</a:t>
            </a:r>
          </a:p>
        </p:txBody>
      </p:sp>
      <p:cxnSp>
        <p:nvCxnSpPr>
          <p:cNvPr id="14" name="connector"/>
          <p:cNvCxnSpPr/>
          <p:nvPr/>
        </p:nvCxnSpPr>
        <p:spPr>
          <a:xfrm>
            <a:off x="960120" y="1359408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100"/>
          <p:cNvSpPr txBox="1"/>
          <p:nvPr/>
        </p:nvSpPr>
        <p:spPr>
          <a:xfrm>
            <a:off x="365760" y="119481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100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960120" y="960119"/>
            <a:ext cx="9125712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120"/>
          <p:cNvSpPr txBox="1"/>
          <p:nvPr/>
        </p:nvSpPr>
        <p:spPr>
          <a:xfrm>
            <a:off x="365760" y="795527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120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960120" y="960120"/>
            <a:ext cx="0" cy="2395728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ridge:期首:0:80"/>
          <p:cNvSpPr/>
          <p:nvPr/>
        </p:nvSpPr>
        <p:spPr>
          <a:xfrm>
            <a:off x="1161288" y="1758695"/>
            <a:ext cx="786384" cy="1597152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80"/>
          <p:cNvSpPr txBox="1"/>
          <p:nvPr/>
        </p:nvSpPr>
        <p:spPr>
          <a:xfrm>
            <a:off x="914400" y="1365503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80</a:t>
            </a:r>
          </a:p>
        </p:txBody>
      </p:sp>
      <p:sp>
        <p:nvSpPr>
          <p:cNvPr id="21" name="text:期首"/>
          <p:cNvSpPr txBox="1"/>
          <p:nvPr/>
        </p:nvSpPr>
        <p:spPr>
          <a:xfrm>
            <a:off x="68580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期首</a:t>
            </a:r>
          </a:p>
        </p:txBody>
      </p:sp>
      <p:cxnSp>
        <p:nvCxnSpPr>
          <p:cNvPr id="22" name="bridge-link:80"/>
          <p:cNvCxnSpPr/>
          <p:nvPr/>
        </p:nvCxnSpPr>
        <p:spPr>
          <a:xfrm>
            <a:off x="1947672" y="1758695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bridge:拡張:80:110"/>
          <p:cNvSpPr/>
          <p:nvPr/>
        </p:nvSpPr>
        <p:spPr>
          <a:xfrm>
            <a:off x="3172968" y="1159764"/>
            <a:ext cx="786384" cy="598931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+30"/>
          <p:cNvSpPr txBox="1"/>
          <p:nvPr/>
        </p:nvSpPr>
        <p:spPr>
          <a:xfrm>
            <a:off x="2926080" y="766572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+30</a:t>
            </a:r>
          </a:p>
        </p:txBody>
      </p:sp>
      <p:sp>
        <p:nvSpPr>
          <p:cNvPr id="25" name="text:拡張"/>
          <p:cNvSpPr txBox="1"/>
          <p:nvPr/>
        </p:nvSpPr>
        <p:spPr>
          <a:xfrm>
            <a:off x="269748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拡張</a:t>
            </a:r>
          </a:p>
        </p:txBody>
      </p:sp>
      <p:cxnSp>
        <p:nvCxnSpPr>
          <p:cNvPr id="26" name="bridge-link:110"/>
          <p:cNvCxnSpPr/>
          <p:nvPr/>
        </p:nvCxnSpPr>
        <p:spPr>
          <a:xfrm>
            <a:off x="3959352" y="1159764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bridge:縮小:110:90"/>
          <p:cNvSpPr/>
          <p:nvPr/>
        </p:nvSpPr>
        <p:spPr>
          <a:xfrm>
            <a:off x="5184648" y="1159764"/>
            <a:ext cx="786384" cy="399287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-20"/>
          <p:cNvSpPr txBox="1"/>
          <p:nvPr/>
        </p:nvSpPr>
        <p:spPr>
          <a:xfrm>
            <a:off x="4937760" y="766572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-20</a:t>
            </a:r>
          </a:p>
        </p:txBody>
      </p:sp>
      <p:sp>
        <p:nvSpPr>
          <p:cNvPr id="29" name="text:縮小"/>
          <p:cNvSpPr txBox="1"/>
          <p:nvPr/>
        </p:nvSpPr>
        <p:spPr>
          <a:xfrm>
            <a:off x="470916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縮小</a:t>
            </a:r>
          </a:p>
        </p:txBody>
      </p:sp>
      <p:cxnSp>
        <p:nvCxnSpPr>
          <p:cNvPr id="30" name="bridge-link:90"/>
          <p:cNvCxnSpPr/>
          <p:nvPr/>
        </p:nvCxnSpPr>
        <p:spPr>
          <a:xfrm>
            <a:off x="5971032" y="1559051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bridge:再配分:90:100"/>
          <p:cNvSpPr/>
          <p:nvPr/>
        </p:nvSpPr>
        <p:spPr>
          <a:xfrm>
            <a:off x="7196328" y="1359408"/>
            <a:ext cx="786384" cy="199643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+10"/>
          <p:cNvSpPr txBox="1"/>
          <p:nvPr/>
        </p:nvSpPr>
        <p:spPr>
          <a:xfrm>
            <a:off x="6949440" y="966216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+10</a:t>
            </a:r>
          </a:p>
        </p:txBody>
      </p:sp>
      <p:sp>
        <p:nvSpPr>
          <p:cNvPr id="33" name="text:再配分"/>
          <p:cNvSpPr txBox="1"/>
          <p:nvPr/>
        </p:nvSpPr>
        <p:spPr>
          <a:xfrm>
            <a:off x="672084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再配分</a:t>
            </a:r>
          </a:p>
        </p:txBody>
      </p:sp>
      <p:cxnSp>
        <p:nvCxnSpPr>
          <p:cNvPr id="34" name="bridge-link:100"/>
          <p:cNvCxnSpPr/>
          <p:nvPr/>
        </p:nvCxnSpPr>
        <p:spPr>
          <a:xfrm>
            <a:off x="7982712" y="1359408"/>
            <a:ext cx="1225296" cy="0"/>
          </a:xfrm>
          <a:prstGeom prst="line">
            <a:avLst/>
          </a:prstGeom>
          <a:ln w="13970">
            <a:solidFill>
              <a:srgbClr val="52617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bridge:期末:0:100"/>
          <p:cNvSpPr/>
          <p:nvPr/>
        </p:nvSpPr>
        <p:spPr>
          <a:xfrm>
            <a:off x="9208008" y="1359408"/>
            <a:ext cx="786384" cy="1996439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100"/>
          <p:cNvSpPr txBox="1"/>
          <p:nvPr/>
        </p:nvSpPr>
        <p:spPr>
          <a:xfrm>
            <a:off x="8961120" y="966216"/>
            <a:ext cx="12801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100</a:t>
            </a:r>
          </a:p>
        </p:txBody>
      </p:sp>
      <p:sp>
        <p:nvSpPr>
          <p:cNvPr id="37" name="text:期末"/>
          <p:cNvSpPr txBox="1"/>
          <p:nvPr/>
        </p:nvSpPr>
        <p:spPr>
          <a:xfrm>
            <a:off x="8732520" y="3575304"/>
            <a:ext cx="17373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2304D"/>
                </a:solidFill>
                <a:latin typeface="Yu Gothic"/>
                <a:ea typeface="Yu Gothic"/>
              </a:rPr>
              <a:t>期末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mall_multip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3領域の検証達成率：すべて同じ0–100%スケール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3領域の検証達成率：すべて同じ0–100%スケール</a:t>
            </a:r>
          </a:p>
        </p:txBody>
      </p:sp>
      <p:sp>
        <p:nvSpPr>
          <p:cNvPr id="3" name="text:データ基盤"/>
          <p:cNvSpPr txBox="1"/>
          <p:nvPr/>
        </p:nvSpPr>
        <p:spPr>
          <a:xfrm>
            <a:off x="640080" y="594360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データ基盤</a:t>
            </a:r>
          </a:p>
        </p:txBody>
      </p:sp>
      <p:sp>
        <p:nvSpPr>
          <p:cNvPr id="4" name="text:達成率（%）"/>
          <p:cNvSpPr txBox="1"/>
          <p:nvPr/>
        </p:nvSpPr>
        <p:spPr>
          <a:xfrm>
            <a:off x="822960" y="978408"/>
            <a:ext cx="2560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達成率（%）</a:t>
            </a:r>
          </a:p>
        </p:txBody>
      </p:sp>
      <p:cxnSp>
        <p:nvCxnSpPr>
          <p:cNvPr id="5" name="connector"/>
          <p:cNvCxnSpPr/>
          <p:nvPr/>
        </p:nvCxnSpPr>
        <p:spPr>
          <a:xfrm>
            <a:off x="914400" y="3227832"/>
            <a:ext cx="2560320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:0"/>
          <p:cNvSpPr txBox="1"/>
          <p:nvPr/>
        </p:nvSpPr>
        <p:spPr>
          <a:xfrm>
            <a:off x="320040" y="3063240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7" name="connector"/>
          <p:cNvCxnSpPr/>
          <p:nvPr/>
        </p:nvCxnSpPr>
        <p:spPr>
          <a:xfrm>
            <a:off x="914400" y="2327148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:50"/>
          <p:cNvSpPr txBox="1"/>
          <p:nvPr/>
        </p:nvSpPr>
        <p:spPr>
          <a:xfrm>
            <a:off x="320040" y="216255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50</a:t>
            </a:r>
          </a:p>
        </p:txBody>
      </p:sp>
      <p:cxnSp>
        <p:nvCxnSpPr>
          <p:cNvPr id="9" name="connector"/>
          <p:cNvCxnSpPr/>
          <p:nvPr/>
        </p:nvCxnSpPr>
        <p:spPr>
          <a:xfrm>
            <a:off x="914400" y="1426464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:100"/>
          <p:cNvSpPr txBox="1"/>
          <p:nvPr/>
        </p:nvSpPr>
        <p:spPr>
          <a:xfrm>
            <a:off x="320040" y="1261872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100</a:t>
            </a:r>
          </a:p>
        </p:txBody>
      </p:sp>
      <p:cxnSp>
        <p:nvCxnSpPr>
          <p:cNvPr id="11" name="connector"/>
          <p:cNvCxnSpPr/>
          <p:nvPr/>
        </p:nvCxnSpPr>
        <p:spPr>
          <a:xfrm>
            <a:off x="914400" y="1426464"/>
            <a:ext cx="0" cy="1801368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oint:0:0:20"/>
          <p:cNvSpPr/>
          <p:nvPr/>
        </p:nvSpPr>
        <p:spPr>
          <a:xfrm>
            <a:off x="868680" y="2821838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20"/>
          <p:cNvSpPr txBox="1"/>
          <p:nvPr/>
        </p:nvSpPr>
        <p:spPr>
          <a:xfrm>
            <a:off x="658368" y="2520086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20</a:t>
            </a:r>
          </a:p>
        </p:txBody>
      </p:sp>
      <p:sp>
        <p:nvSpPr>
          <p:cNvPr id="14" name="text:Q1"/>
          <p:cNvSpPr txBox="1"/>
          <p:nvPr/>
        </p:nvSpPr>
        <p:spPr>
          <a:xfrm>
            <a:off x="62179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Q1</a:t>
            </a:r>
          </a:p>
        </p:txBody>
      </p:sp>
      <p:cxnSp>
        <p:nvCxnSpPr>
          <p:cNvPr id="15" name="small:0:0:1"/>
          <p:cNvCxnSpPr/>
          <p:nvPr/>
        </p:nvCxnSpPr>
        <p:spPr>
          <a:xfrm flipV="1">
            <a:off x="914399" y="2597353"/>
            <a:ext cx="853440" cy="270205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int:0:1:35"/>
          <p:cNvSpPr/>
          <p:nvPr/>
        </p:nvSpPr>
        <p:spPr>
          <a:xfrm>
            <a:off x="1722119" y="2551633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35"/>
          <p:cNvSpPr txBox="1"/>
          <p:nvPr/>
        </p:nvSpPr>
        <p:spPr>
          <a:xfrm>
            <a:off x="1511807" y="2249881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35</a:t>
            </a:r>
          </a:p>
        </p:txBody>
      </p:sp>
      <p:sp>
        <p:nvSpPr>
          <p:cNvPr id="18" name="text:Q2"/>
          <p:cNvSpPr txBox="1"/>
          <p:nvPr/>
        </p:nvSpPr>
        <p:spPr>
          <a:xfrm>
            <a:off x="1475231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Q2</a:t>
            </a:r>
          </a:p>
        </p:txBody>
      </p:sp>
      <p:cxnSp>
        <p:nvCxnSpPr>
          <p:cNvPr id="19" name="small:0:1:2"/>
          <p:cNvCxnSpPr/>
          <p:nvPr/>
        </p:nvCxnSpPr>
        <p:spPr>
          <a:xfrm flipV="1">
            <a:off x="1767839" y="2327148"/>
            <a:ext cx="853440" cy="270205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oint:0:2:50"/>
          <p:cNvSpPr/>
          <p:nvPr/>
        </p:nvSpPr>
        <p:spPr>
          <a:xfrm>
            <a:off x="2575560" y="2281428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50"/>
          <p:cNvSpPr txBox="1"/>
          <p:nvPr/>
        </p:nvSpPr>
        <p:spPr>
          <a:xfrm>
            <a:off x="2365247" y="1979676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50</a:t>
            </a:r>
          </a:p>
        </p:txBody>
      </p:sp>
      <p:sp>
        <p:nvSpPr>
          <p:cNvPr id="22" name="text:Q3"/>
          <p:cNvSpPr txBox="1"/>
          <p:nvPr/>
        </p:nvSpPr>
        <p:spPr>
          <a:xfrm>
            <a:off x="232867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Q3</a:t>
            </a:r>
          </a:p>
        </p:txBody>
      </p:sp>
      <p:cxnSp>
        <p:nvCxnSpPr>
          <p:cNvPr id="23" name="small:0:2:3"/>
          <p:cNvCxnSpPr/>
          <p:nvPr/>
        </p:nvCxnSpPr>
        <p:spPr>
          <a:xfrm flipV="1">
            <a:off x="2621279" y="1966874"/>
            <a:ext cx="853440" cy="360274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oint:0:3:70"/>
          <p:cNvSpPr/>
          <p:nvPr/>
        </p:nvSpPr>
        <p:spPr>
          <a:xfrm>
            <a:off x="3428999" y="1921154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70"/>
          <p:cNvSpPr txBox="1"/>
          <p:nvPr/>
        </p:nvSpPr>
        <p:spPr>
          <a:xfrm>
            <a:off x="3218687" y="1619402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70</a:t>
            </a:r>
          </a:p>
        </p:txBody>
      </p:sp>
      <p:sp>
        <p:nvSpPr>
          <p:cNvPr id="26" name="text:Q4"/>
          <p:cNvSpPr txBox="1"/>
          <p:nvPr/>
        </p:nvSpPr>
        <p:spPr>
          <a:xfrm>
            <a:off x="3182111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Q4</a:t>
            </a:r>
          </a:p>
        </p:txBody>
      </p:sp>
      <p:sp>
        <p:nvSpPr>
          <p:cNvPr id="27" name="text:解析手法"/>
          <p:cNvSpPr txBox="1"/>
          <p:nvPr/>
        </p:nvSpPr>
        <p:spPr>
          <a:xfrm>
            <a:off x="3977640" y="594360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解析手法</a:t>
            </a:r>
          </a:p>
        </p:txBody>
      </p:sp>
      <p:sp>
        <p:nvSpPr>
          <p:cNvPr id="28" name="text:達成率（%）"/>
          <p:cNvSpPr txBox="1"/>
          <p:nvPr/>
        </p:nvSpPr>
        <p:spPr>
          <a:xfrm>
            <a:off x="4160520" y="978408"/>
            <a:ext cx="2560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達成率（%）</a:t>
            </a:r>
          </a:p>
        </p:txBody>
      </p:sp>
      <p:cxnSp>
        <p:nvCxnSpPr>
          <p:cNvPr id="29" name="connector"/>
          <p:cNvCxnSpPr/>
          <p:nvPr/>
        </p:nvCxnSpPr>
        <p:spPr>
          <a:xfrm>
            <a:off x="4251960" y="3227832"/>
            <a:ext cx="2560320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:0"/>
          <p:cNvSpPr txBox="1"/>
          <p:nvPr/>
        </p:nvSpPr>
        <p:spPr>
          <a:xfrm>
            <a:off x="3657600" y="3063240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31" name="connector"/>
          <p:cNvCxnSpPr/>
          <p:nvPr/>
        </p:nvCxnSpPr>
        <p:spPr>
          <a:xfrm>
            <a:off x="4251960" y="2327148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:50"/>
          <p:cNvSpPr txBox="1"/>
          <p:nvPr/>
        </p:nvSpPr>
        <p:spPr>
          <a:xfrm>
            <a:off x="3657600" y="216255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50</a:t>
            </a:r>
          </a:p>
        </p:txBody>
      </p:sp>
      <p:cxnSp>
        <p:nvCxnSpPr>
          <p:cNvPr id="33" name="connector"/>
          <p:cNvCxnSpPr/>
          <p:nvPr/>
        </p:nvCxnSpPr>
        <p:spPr>
          <a:xfrm>
            <a:off x="4251960" y="1426464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100"/>
          <p:cNvSpPr txBox="1"/>
          <p:nvPr/>
        </p:nvSpPr>
        <p:spPr>
          <a:xfrm>
            <a:off x="3657600" y="1261872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100</a:t>
            </a:r>
          </a:p>
        </p:txBody>
      </p:sp>
      <p:cxnSp>
        <p:nvCxnSpPr>
          <p:cNvPr id="35" name="connector"/>
          <p:cNvCxnSpPr/>
          <p:nvPr/>
        </p:nvCxnSpPr>
        <p:spPr>
          <a:xfrm>
            <a:off x="4251960" y="1426464"/>
            <a:ext cx="0" cy="1801368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oint:1:0:40"/>
          <p:cNvSpPr/>
          <p:nvPr/>
        </p:nvSpPr>
        <p:spPr>
          <a:xfrm>
            <a:off x="4206240" y="2461564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40"/>
          <p:cNvSpPr txBox="1"/>
          <p:nvPr/>
        </p:nvSpPr>
        <p:spPr>
          <a:xfrm>
            <a:off x="3995928" y="2159812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40</a:t>
            </a:r>
          </a:p>
        </p:txBody>
      </p:sp>
      <p:sp>
        <p:nvSpPr>
          <p:cNvPr id="38" name="text:Q1"/>
          <p:cNvSpPr txBox="1"/>
          <p:nvPr/>
        </p:nvSpPr>
        <p:spPr>
          <a:xfrm>
            <a:off x="395935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Q1</a:t>
            </a:r>
          </a:p>
        </p:txBody>
      </p:sp>
      <p:cxnSp>
        <p:nvCxnSpPr>
          <p:cNvPr id="39" name="small:1:0:1"/>
          <p:cNvCxnSpPr/>
          <p:nvPr/>
        </p:nvCxnSpPr>
        <p:spPr>
          <a:xfrm flipV="1">
            <a:off x="4251960" y="2417216"/>
            <a:ext cx="853440" cy="90068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oint:1:1:45"/>
          <p:cNvSpPr/>
          <p:nvPr/>
        </p:nvSpPr>
        <p:spPr>
          <a:xfrm>
            <a:off x="5059680" y="2371496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45"/>
          <p:cNvSpPr txBox="1"/>
          <p:nvPr/>
        </p:nvSpPr>
        <p:spPr>
          <a:xfrm>
            <a:off x="4849368" y="2069744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45</a:t>
            </a:r>
          </a:p>
        </p:txBody>
      </p:sp>
      <p:sp>
        <p:nvSpPr>
          <p:cNvPr id="42" name="text:Q2"/>
          <p:cNvSpPr txBox="1"/>
          <p:nvPr/>
        </p:nvSpPr>
        <p:spPr>
          <a:xfrm>
            <a:off x="481279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Q2</a:t>
            </a:r>
          </a:p>
        </p:txBody>
      </p:sp>
      <p:cxnSp>
        <p:nvCxnSpPr>
          <p:cNvPr id="43" name="small:1:1:2"/>
          <p:cNvCxnSpPr/>
          <p:nvPr/>
        </p:nvCxnSpPr>
        <p:spPr>
          <a:xfrm flipV="1">
            <a:off x="5105400" y="2327148"/>
            <a:ext cx="853440" cy="90068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oint:1:2:50"/>
          <p:cNvSpPr/>
          <p:nvPr/>
        </p:nvSpPr>
        <p:spPr>
          <a:xfrm>
            <a:off x="5913120" y="2281428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50"/>
          <p:cNvSpPr txBox="1"/>
          <p:nvPr/>
        </p:nvSpPr>
        <p:spPr>
          <a:xfrm>
            <a:off x="5702808" y="1979676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50</a:t>
            </a:r>
          </a:p>
        </p:txBody>
      </p:sp>
      <p:sp>
        <p:nvSpPr>
          <p:cNvPr id="46" name="text:Q3"/>
          <p:cNvSpPr txBox="1"/>
          <p:nvPr/>
        </p:nvSpPr>
        <p:spPr>
          <a:xfrm>
            <a:off x="566623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Q3</a:t>
            </a:r>
          </a:p>
        </p:txBody>
      </p:sp>
      <p:cxnSp>
        <p:nvCxnSpPr>
          <p:cNvPr id="47" name="small:1:2:3"/>
          <p:cNvCxnSpPr/>
          <p:nvPr/>
        </p:nvCxnSpPr>
        <p:spPr>
          <a:xfrm flipV="1">
            <a:off x="5958839" y="2147011"/>
            <a:ext cx="853440" cy="180137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oint:1:3:60"/>
          <p:cNvSpPr/>
          <p:nvPr/>
        </p:nvSpPr>
        <p:spPr>
          <a:xfrm>
            <a:off x="6766559" y="2101291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60"/>
          <p:cNvSpPr txBox="1"/>
          <p:nvPr/>
        </p:nvSpPr>
        <p:spPr>
          <a:xfrm>
            <a:off x="6556247" y="1799539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60</a:t>
            </a:r>
          </a:p>
        </p:txBody>
      </p:sp>
      <p:sp>
        <p:nvSpPr>
          <p:cNvPr id="50" name="text:Q4"/>
          <p:cNvSpPr txBox="1"/>
          <p:nvPr/>
        </p:nvSpPr>
        <p:spPr>
          <a:xfrm>
            <a:off x="6519671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Q4</a:t>
            </a:r>
          </a:p>
        </p:txBody>
      </p:sp>
      <p:sp>
        <p:nvSpPr>
          <p:cNvPr id="51" name="text:実証準備"/>
          <p:cNvSpPr txBox="1"/>
          <p:nvPr/>
        </p:nvSpPr>
        <p:spPr>
          <a:xfrm>
            <a:off x="7315200" y="594360"/>
            <a:ext cx="2743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実証準備</a:t>
            </a:r>
          </a:p>
        </p:txBody>
      </p:sp>
      <p:sp>
        <p:nvSpPr>
          <p:cNvPr id="52" name="text:達成率（%）"/>
          <p:cNvSpPr txBox="1"/>
          <p:nvPr/>
        </p:nvSpPr>
        <p:spPr>
          <a:xfrm>
            <a:off x="7498080" y="978408"/>
            <a:ext cx="25603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達成率（%）</a:t>
            </a:r>
          </a:p>
        </p:txBody>
      </p:sp>
      <p:cxnSp>
        <p:nvCxnSpPr>
          <p:cNvPr id="53" name="connector"/>
          <p:cNvCxnSpPr/>
          <p:nvPr/>
        </p:nvCxnSpPr>
        <p:spPr>
          <a:xfrm>
            <a:off x="7589520" y="3227832"/>
            <a:ext cx="2560320" cy="0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:0"/>
          <p:cNvSpPr txBox="1"/>
          <p:nvPr/>
        </p:nvSpPr>
        <p:spPr>
          <a:xfrm>
            <a:off x="6995160" y="3063240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0</a:t>
            </a:r>
          </a:p>
        </p:txBody>
      </p:sp>
      <p:cxnSp>
        <p:nvCxnSpPr>
          <p:cNvPr id="55" name="connector"/>
          <p:cNvCxnSpPr/>
          <p:nvPr/>
        </p:nvCxnSpPr>
        <p:spPr>
          <a:xfrm>
            <a:off x="7589520" y="2327148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:50"/>
          <p:cNvSpPr txBox="1"/>
          <p:nvPr/>
        </p:nvSpPr>
        <p:spPr>
          <a:xfrm>
            <a:off x="6995160" y="2162556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50</a:t>
            </a:r>
          </a:p>
        </p:txBody>
      </p:sp>
      <p:cxnSp>
        <p:nvCxnSpPr>
          <p:cNvPr id="57" name="connector"/>
          <p:cNvCxnSpPr/>
          <p:nvPr/>
        </p:nvCxnSpPr>
        <p:spPr>
          <a:xfrm>
            <a:off x="7589520" y="1426464"/>
            <a:ext cx="256032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:100"/>
          <p:cNvSpPr txBox="1"/>
          <p:nvPr/>
        </p:nvSpPr>
        <p:spPr>
          <a:xfrm>
            <a:off x="6995160" y="1261872"/>
            <a:ext cx="4572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100</a:t>
            </a:r>
          </a:p>
        </p:txBody>
      </p:sp>
      <p:cxnSp>
        <p:nvCxnSpPr>
          <p:cNvPr id="59" name="connector"/>
          <p:cNvCxnSpPr/>
          <p:nvPr/>
        </p:nvCxnSpPr>
        <p:spPr>
          <a:xfrm>
            <a:off x="7589520" y="1426464"/>
            <a:ext cx="0" cy="1801368"/>
          </a:xfrm>
          <a:prstGeom prst="line">
            <a:avLst/>
          </a:prstGeom>
          <a:ln w="13970">
            <a:solidFill>
              <a:srgbClr val="5261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point:2:0:15"/>
          <p:cNvSpPr/>
          <p:nvPr/>
        </p:nvSpPr>
        <p:spPr>
          <a:xfrm>
            <a:off x="7543800" y="2911906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15"/>
          <p:cNvSpPr txBox="1"/>
          <p:nvPr/>
        </p:nvSpPr>
        <p:spPr>
          <a:xfrm>
            <a:off x="7333488" y="2610154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62" name="text:Q1"/>
          <p:cNvSpPr txBox="1"/>
          <p:nvPr/>
        </p:nvSpPr>
        <p:spPr>
          <a:xfrm>
            <a:off x="729691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Q1</a:t>
            </a:r>
          </a:p>
        </p:txBody>
      </p:sp>
      <p:cxnSp>
        <p:nvCxnSpPr>
          <p:cNvPr id="63" name="small:2:0:1"/>
          <p:cNvCxnSpPr/>
          <p:nvPr/>
        </p:nvCxnSpPr>
        <p:spPr>
          <a:xfrm flipV="1">
            <a:off x="7589520" y="2687421"/>
            <a:ext cx="853440" cy="270205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oint:2:1:30"/>
          <p:cNvSpPr/>
          <p:nvPr/>
        </p:nvSpPr>
        <p:spPr>
          <a:xfrm>
            <a:off x="8397240" y="2641701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30"/>
          <p:cNvSpPr txBox="1"/>
          <p:nvPr/>
        </p:nvSpPr>
        <p:spPr>
          <a:xfrm>
            <a:off x="8186928" y="2339949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30</a:t>
            </a:r>
          </a:p>
        </p:txBody>
      </p:sp>
      <p:sp>
        <p:nvSpPr>
          <p:cNvPr id="66" name="text:Q2"/>
          <p:cNvSpPr txBox="1"/>
          <p:nvPr/>
        </p:nvSpPr>
        <p:spPr>
          <a:xfrm>
            <a:off x="815035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Q2</a:t>
            </a:r>
          </a:p>
        </p:txBody>
      </p:sp>
      <p:cxnSp>
        <p:nvCxnSpPr>
          <p:cNvPr id="67" name="small:2:1:2"/>
          <p:cNvCxnSpPr/>
          <p:nvPr/>
        </p:nvCxnSpPr>
        <p:spPr>
          <a:xfrm flipV="1">
            <a:off x="8442960" y="2237079"/>
            <a:ext cx="853440" cy="450342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point:2:2:55"/>
          <p:cNvSpPr/>
          <p:nvPr/>
        </p:nvSpPr>
        <p:spPr>
          <a:xfrm>
            <a:off x="9250680" y="2191359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55"/>
          <p:cNvSpPr txBox="1"/>
          <p:nvPr/>
        </p:nvSpPr>
        <p:spPr>
          <a:xfrm>
            <a:off x="9040368" y="1889607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55</a:t>
            </a:r>
          </a:p>
        </p:txBody>
      </p:sp>
      <p:sp>
        <p:nvSpPr>
          <p:cNvPr id="70" name="text:Q3"/>
          <p:cNvSpPr txBox="1"/>
          <p:nvPr/>
        </p:nvSpPr>
        <p:spPr>
          <a:xfrm>
            <a:off x="900379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Q3</a:t>
            </a:r>
          </a:p>
        </p:txBody>
      </p:sp>
      <p:cxnSp>
        <p:nvCxnSpPr>
          <p:cNvPr id="71" name="small:2:2:3"/>
          <p:cNvCxnSpPr/>
          <p:nvPr/>
        </p:nvCxnSpPr>
        <p:spPr>
          <a:xfrm flipV="1">
            <a:off x="9296400" y="1606600"/>
            <a:ext cx="853440" cy="630479"/>
          </a:xfrm>
          <a:prstGeom prst="line">
            <a:avLst/>
          </a:prstGeom>
          <a:ln w="3175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point:2:3:90"/>
          <p:cNvSpPr/>
          <p:nvPr/>
        </p:nvSpPr>
        <p:spPr>
          <a:xfrm>
            <a:off x="10104119" y="1560880"/>
            <a:ext cx="91440" cy="91440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:90"/>
          <p:cNvSpPr txBox="1"/>
          <p:nvPr/>
        </p:nvSpPr>
        <p:spPr>
          <a:xfrm>
            <a:off x="9893808" y="1259128"/>
            <a:ext cx="512064" cy="29260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3077"/>
                </a:solidFill>
                <a:latin typeface="Yu Gothic"/>
                <a:ea typeface="Yu Gothic"/>
              </a:rPr>
              <a:t>90</a:t>
            </a:r>
          </a:p>
        </p:txBody>
      </p:sp>
      <p:sp>
        <p:nvSpPr>
          <p:cNvPr id="74" name="text:Q4"/>
          <p:cNvSpPr txBox="1"/>
          <p:nvPr/>
        </p:nvSpPr>
        <p:spPr>
          <a:xfrm>
            <a:off x="9857232" y="3392424"/>
            <a:ext cx="58521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2304D"/>
                </a:solidFill>
                <a:latin typeface="Yu Gothic"/>
                <a:ea typeface="Yu Gothic"/>
              </a:rPr>
              <a:t>Q4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trix_2x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研究施策の位置づけ：定性的な優先順位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研究施策の位置づけ：定性的な優先順位</a:t>
            </a:r>
          </a:p>
        </p:txBody>
      </p:sp>
      <p:sp>
        <p:nvSpPr>
          <p:cNvPr id="3" name="shape"/>
          <p:cNvSpPr/>
          <p:nvPr/>
        </p:nvSpPr>
        <p:spPr>
          <a:xfrm>
            <a:off x="1508760" y="777240"/>
            <a:ext cx="4091939" cy="1325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hape"/>
          <p:cNvSpPr/>
          <p:nvPr/>
        </p:nvSpPr>
        <p:spPr>
          <a:xfrm>
            <a:off x="5600700" y="777240"/>
            <a:ext cx="4091939" cy="132588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hape"/>
          <p:cNvSpPr/>
          <p:nvPr/>
        </p:nvSpPr>
        <p:spPr>
          <a:xfrm>
            <a:off x="1508760" y="2103120"/>
            <a:ext cx="4091939" cy="1325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"/>
          <p:cNvSpPr/>
          <p:nvPr/>
        </p:nvSpPr>
        <p:spPr>
          <a:xfrm>
            <a:off x="5600700" y="2103120"/>
            <a:ext cx="4091939" cy="13258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"/>
          <p:cNvCxnSpPr/>
          <p:nvPr/>
        </p:nvCxnSpPr>
        <p:spPr>
          <a:xfrm>
            <a:off x="1508760" y="2103120"/>
            <a:ext cx="8183880" cy="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"/>
          <p:cNvCxnSpPr/>
          <p:nvPr/>
        </p:nvCxnSpPr>
        <p:spPr>
          <a:xfrm>
            <a:off x="5600700" y="777240"/>
            <a:ext cx="0" cy="2651760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"/>
          <p:cNvCxnSpPr/>
          <p:nvPr/>
        </p:nvCxnSpPr>
        <p:spPr>
          <a:xfrm>
            <a:off x="1508760" y="3429000"/>
            <a:ext cx="8366759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"/>
          <p:cNvCxnSpPr/>
          <p:nvPr/>
        </p:nvCxnSpPr>
        <p:spPr>
          <a:xfrm flipV="1">
            <a:off x="1508760" y="685800"/>
            <a:ext cx="0" cy="274320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期待効果"/>
          <p:cNvSpPr txBox="1"/>
          <p:nvPr/>
        </p:nvSpPr>
        <p:spPr>
          <a:xfrm>
            <a:off x="256032" y="576072"/>
            <a:ext cx="118872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期待効果</a:t>
            </a:r>
          </a:p>
        </p:txBody>
      </p:sp>
      <p:sp>
        <p:nvSpPr>
          <p:cNvPr id="12" name="text:高"/>
          <p:cNvSpPr txBox="1"/>
          <p:nvPr/>
        </p:nvSpPr>
        <p:spPr>
          <a:xfrm>
            <a:off x="877824" y="932688"/>
            <a:ext cx="457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高</a:t>
            </a:r>
          </a:p>
        </p:txBody>
      </p:sp>
      <p:sp>
        <p:nvSpPr>
          <p:cNvPr id="13" name="text:低"/>
          <p:cNvSpPr txBox="1"/>
          <p:nvPr/>
        </p:nvSpPr>
        <p:spPr>
          <a:xfrm>
            <a:off x="877824" y="2980944"/>
            <a:ext cx="4572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低</a:t>
            </a:r>
          </a:p>
        </p:txBody>
      </p:sp>
      <p:sp>
        <p:nvSpPr>
          <p:cNvPr id="14" name="text:実行容易性  低 → 高"/>
          <p:cNvSpPr txBox="1"/>
          <p:nvPr/>
        </p:nvSpPr>
        <p:spPr>
          <a:xfrm>
            <a:off x="5212080" y="3630168"/>
            <a:ext cx="438912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実行容易性  低 → 高</a:t>
            </a:r>
          </a:p>
        </p:txBody>
      </p:sp>
      <p:sp>
        <p:nvSpPr>
          <p:cNvPr id="15" name="circle"/>
          <p:cNvSpPr/>
          <p:nvPr/>
        </p:nvSpPr>
        <p:spPr>
          <a:xfrm>
            <a:off x="2610612" y="1449324"/>
            <a:ext cx="118872" cy="118872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基盤刷新"/>
          <p:cNvSpPr txBox="1"/>
          <p:nvPr/>
        </p:nvSpPr>
        <p:spPr>
          <a:xfrm>
            <a:off x="2862072" y="1298448"/>
            <a:ext cx="22860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基盤刷新</a:t>
            </a:r>
          </a:p>
        </p:txBody>
      </p:sp>
      <p:sp>
        <p:nvSpPr>
          <p:cNvPr id="17" name="circle"/>
          <p:cNvSpPr/>
          <p:nvPr/>
        </p:nvSpPr>
        <p:spPr>
          <a:xfrm>
            <a:off x="6633971" y="1403604"/>
            <a:ext cx="118872" cy="118872"/>
          </a:xfrm>
          <a:prstGeom prst="ellipse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共通申請"/>
          <p:cNvSpPr txBox="1"/>
          <p:nvPr/>
        </p:nvSpPr>
        <p:spPr>
          <a:xfrm>
            <a:off x="6885431" y="1252728"/>
            <a:ext cx="22860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304D"/>
                </a:solidFill>
                <a:latin typeface="Yu Gothic"/>
                <a:ea typeface="Yu Gothic"/>
              </a:rPr>
              <a:t>共通申請</a:t>
            </a:r>
          </a:p>
        </p:txBody>
      </p:sp>
      <p:sp>
        <p:nvSpPr>
          <p:cNvPr id="19" name="circle"/>
          <p:cNvSpPr/>
          <p:nvPr/>
        </p:nvSpPr>
        <p:spPr>
          <a:xfrm>
            <a:off x="2427732" y="2775204"/>
            <a:ext cx="118872" cy="118872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長期拡張"/>
          <p:cNvSpPr txBox="1"/>
          <p:nvPr/>
        </p:nvSpPr>
        <p:spPr>
          <a:xfrm>
            <a:off x="2679192" y="2624328"/>
            <a:ext cx="22860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長期拡張</a:t>
            </a:r>
          </a:p>
        </p:txBody>
      </p:sp>
      <p:sp>
        <p:nvSpPr>
          <p:cNvPr id="21" name="circle"/>
          <p:cNvSpPr/>
          <p:nvPr/>
        </p:nvSpPr>
        <p:spPr>
          <a:xfrm>
            <a:off x="6633971" y="2683764"/>
            <a:ext cx="118872" cy="118872"/>
          </a:xfrm>
          <a:prstGeom prst="ellipse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手順共有"/>
          <p:cNvSpPr txBox="1"/>
          <p:nvPr/>
        </p:nvSpPr>
        <p:spPr>
          <a:xfrm>
            <a:off x="6885431" y="2532888"/>
            <a:ext cx="22860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2304D"/>
                </a:solidFill>
                <a:latin typeface="Yu Gothic"/>
                <a:ea typeface="Yu Gothic"/>
              </a:rPr>
              <a:t>手順共有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ssue_to_solution_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課題から打ち手への対応：共通フォームが2つの課題に作用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課題から打ち手への対応：共通フォームが2つの課題に作用</a:t>
            </a:r>
          </a:p>
        </p:txBody>
      </p:sp>
      <p:sp>
        <p:nvSpPr>
          <p:cNvPr id="3" name="box:課題"/>
          <p:cNvSpPr/>
          <p:nvPr/>
        </p:nvSpPr>
        <p:spPr>
          <a:xfrm>
            <a:off x="411480" y="667512"/>
            <a:ext cx="3246120" cy="521207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課題"/>
          <p:cNvSpPr txBox="1"/>
          <p:nvPr/>
        </p:nvSpPr>
        <p:spPr>
          <a:xfrm>
            <a:off x="493776" y="699516"/>
            <a:ext cx="3081527" cy="45719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課題</a:t>
            </a:r>
          </a:p>
        </p:txBody>
      </p:sp>
      <p:sp>
        <p:nvSpPr>
          <p:cNvPr id="5" name="box:打ち手"/>
          <p:cNvSpPr/>
          <p:nvPr/>
        </p:nvSpPr>
        <p:spPr>
          <a:xfrm>
            <a:off x="6903720" y="667512"/>
            <a:ext cx="3246120" cy="521207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打ち手"/>
          <p:cNvSpPr txBox="1"/>
          <p:nvPr/>
        </p:nvSpPr>
        <p:spPr>
          <a:xfrm>
            <a:off x="6986016" y="699516"/>
            <a:ext cx="3081527" cy="45719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打ち手</a:t>
            </a:r>
          </a:p>
        </p:txBody>
      </p:sp>
      <p:cxnSp>
        <p:nvCxnSpPr>
          <p:cNvPr id="7" name="mapping:0:0"/>
          <p:cNvCxnSpPr/>
          <p:nvPr/>
        </p:nvCxnSpPr>
        <p:spPr>
          <a:xfrm>
            <a:off x="3730752" y="1719072"/>
            <a:ext cx="309981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mapping:1:0"/>
          <p:cNvCxnSpPr/>
          <p:nvPr/>
        </p:nvCxnSpPr>
        <p:spPr>
          <a:xfrm flipV="1">
            <a:off x="3730752" y="1719072"/>
            <a:ext cx="3099816" cy="86868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mapping:1:1"/>
          <p:cNvCxnSpPr/>
          <p:nvPr/>
        </p:nvCxnSpPr>
        <p:spPr>
          <a:xfrm>
            <a:off x="3730752" y="2587752"/>
            <a:ext cx="309981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mapping:2:2"/>
          <p:cNvCxnSpPr/>
          <p:nvPr/>
        </p:nvCxnSpPr>
        <p:spPr>
          <a:xfrm>
            <a:off x="3730752" y="3456432"/>
            <a:ext cx="309981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box:同じ情報を重複入力"/>
          <p:cNvSpPr/>
          <p:nvPr/>
        </p:nvSpPr>
        <p:spPr>
          <a:xfrm>
            <a:off x="411480" y="1435608"/>
            <a:ext cx="32461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同じ情報を重複入力"/>
          <p:cNvSpPr txBox="1"/>
          <p:nvPr/>
        </p:nvSpPr>
        <p:spPr>
          <a:xfrm>
            <a:off x="493776" y="146761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同じ情報を重複入力</a:t>
            </a:r>
          </a:p>
        </p:txBody>
      </p:sp>
      <p:sp>
        <p:nvSpPr>
          <p:cNvPr id="13" name="box:共通フォームに統合"/>
          <p:cNvSpPr/>
          <p:nvPr/>
        </p:nvSpPr>
        <p:spPr>
          <a:xfrm>
            <a:off x="6903720" y="1435608"/>
            <a:ext cx="324612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共通フォームに統合"/>
          <p:cNvSpPr txBox="1"/>
          <p:nvPr/>
        </p:nvSpPr>
        <p:spPr>
          <a:xfrm>
            <a:off x="6986016" y="146761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共通フォームに統合</a:t>
            </a:r>
          </a:p>
        </p:txBody>
      </p:sp>
      <p:sp>
        <p:nvSpPr>
          <p:cNvPr id="15" name="box:項目の形式が不統一"/>
          <p:cNvSpPr/>
          <p:nvPr/>
        </p:nvSpPr>
        <p:spPr>
          <a:xfrm>
            <a:off x="411480" y="2304288"/>
            <a:ext cx="32461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項目の形式が不統一"/>
          <p:cNvSpPr txBox="1"/>
          <p:nvPr/>
        </p:nvSpPr>
        <p:spPr>
          <a:xfrm>
            <a:off x="493776" y="233629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項目の形式が不統一</a:t>
            </a:r>
          </a:p>
        </p:txBody>
      </p:sp>
      <p:sp>
        <p:nvSpPr>
          <p:cNvPr id="17" name="box:入力項目を標準化"/>
          <p:cNvSpPr/>
          <p:nvPr/>
        </p:nvSpPr>
        <p:spPr>
          <a:xfrm>
            <a:off x="6903720" y="2304288"/>
            <a:ext cx="324612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入力項目を標準化"/>
          <p:cNvSpPr txBox="1"/>
          <p:nvPr/>
        </p:nvSpPr>
        <p:spPr>
          <a:xfrm>
            <a:off x="6986016" y="233629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入力項目を標準化</a:t>
            </a:r>
          </a:p>
        </p:txBody>
      </p:sp>
      <p:sp>
        <p:nvSpPr>
          <p:cNvPr id="19" name="box:確認状況が見えない"/>
          <p:cNvSpPr/>
          <p:nvPr/>
        </p:nvSpPr>
        <p:spPr>
          <a:xfrm>
            <a:off x="411480" y="3172968"/>
            <a:ext cx="324612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確認状況が見えない"/>
          <p:cNvSpPr txBox="1"/>
          <p:nvPr/>
        </p:nvSpPr>
        <p:spPr>
          <a:xfrm>
            <a:off x="493776" y="320497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確認状況が見えない</a:t>
            </a:r>
          </a:p>
        </p:txBody>
      </p:sp>
      <p:sp>
        <p:nvSpPr>
          <p:cNvPr id="21" name="box:担当者へ自動通知"/>
          <p:cNvSpPr/>
          <p:nvPr/>
        </p:nvSpPr>
        <p:spPr>
          <a:xfrm>
            <a:off x="6903720" y="3172968"/>
            <a:ext cx="324612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担当者へ自動通知"/>
          <p:cNvSpPr txBox="1"/>
          <p:nvPr/>
        </p:nvSpPr>
        <p:spPr>
          <a:xfrm>
            <a:off x="6986016" y="3204972"/>
            <a:ext cx="30815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担当者へ自動通知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ssue_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利用開始の遅れを分解し、検証する問いを定める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利用開始の遅れを分解し、検証する問いを定める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2788920" y="2212848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"/>
          <p:cNvCxnSpPr/>
          <p:nvPr/>
        </p:nvCxnSpPr>
        <p:spPr>
          <a:xfrm flipV="1">
            <a:off x="3172968" y="1426464"/>
            <a:ext cx="0" cy="786384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"/>
          <p:cNvCxnSpPr/>
          <p:nvPr/>
        </p:nvCxnSpPr>
        <p:spPr>
          <a:xfrm>
            <a:off x="3172968" y="1426464"/>
            <a:ext cx="393192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"/>
          <p:cNvCxnSpPr/>
          <p:nvPr/>
        </p:nvCxnSpPr>
        <p:spPr>
          <a:xfrm>
            <a:off x="5907024" y="1426464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"/>
          <p:cNvCxnSpPr/>
          <p:nvPr/>
        </p:nvCxnSpPr>
        <p:spPr>
          <a:xfrm flipV="1">
            <a:off x="6291072" y="1014984"/>
            <a:ext cx="0" cy="41148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"/>
          <p:cNvCxnSpPr/>
          <p:nvPr/>
        </p:nvCxnSpPr>
        <p:spPr>
          <a:xfrm>
            <a:off x="6291072" y="1014984"/>
            <a:ext cx="38404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box:要件を理解できるか"/>
          <p:cNvSpPr/>
          <p:nvPr/>
        </p:nvSpPr>
        <p:spPr>
          <a:xfrm>
            <a:off x="6675120" y="713232"/>
            <a:ext cx="35204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要件を理解できるか"/>
          <p:cNvSpPr txBox="1"/>
          <p:nvPr/>
        </p:nvSpPr>
        <p:spPr>
          <a:xfrm>
            <a:off x="6757416" y="745236"/>
            <a:ext cx="335584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要件を理解できるか</a:t>
            </a:r>
          </a:p>
        </p:txBody>
      </p:sp>
      <p:cxnSp>
        <p:nvCxnSpPr>
          <p:cNvPr id="11" name="connector"/>
          <p:cNvCxnSpPr/>
          <p:nvPr/>
        </p:nvCxnSpPr>
        <p:spPr>
          <a:xfrm>
            <a:off x="5907024" y="1426464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"/>
          <p:cNvCxnSpPr/>
          <p:nvPr/>
        </p:nvCxnSpPr>
        <p:spPr>
          <a:xfrm>
            <a:off x="6291072" y="1426464"/>
            <a:ext cx="0" cy="402336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"/>
          <p:cNvCxnSpPr/>
          <p:nvPr/>
        </p:nvCxnSpPr>
        <p:spPr>
          <a:xfrm>
            <a:off x="6291072" y="1828800"/>
            <a:ext cx="38404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ox:必要書類が揃うか"/>
          <p:cNvSpPr/>
          <p:nvPr/>
        </p:nvSpPr>
        <p:spPr>
          <a:xfrm>
            <a:off x="6675120" y="1527048"/>
            <a:ext cx="35204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必要書類が揃うか"/>
          <p:cNvSpPr txBox="1"/>
          <p:nvPr/>
        </p:nvSpPr>
        <p:spPr>
          <a:xfrm>
            <a:off x="6757416" y="1559051"/>
            <a:ext cx="335584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必要書類が揃うか</a:t>
            </a:r>
          </a:p>
        </p:txBody>
      </p:sp>
      <p:sp>
        <p:nvSpPr>
          <p:cNvPr id="16" name="box:申請前の遅れ"/>
          <p:cNvSpPr/>
          <p:nvPr/>
        </p:nvSpPr>
        <p:spPr>
          <a:xfrm>
            <a:off x="3566160" y="1124712"/>
            <a:ext cx="233172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申請前の遅れ"/>
          <p:cNvSpPr txBox="1"/>
          <p:nvPr/>
        </p:nvSpPr>
        <p:spPr>
          <a:xfrm>
            <a:off x="3648456" y="1156716"/>
            <a:ext cx="21671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申請前の遅れ</a:t>
            </a:r>
          </a:p>
        </p:txBody>
      </p:sp>
      <p:cxnSp>
        <p:nvCxnSpPr>
          <p:cNvPr id="18" name="connector"/>
          <p:cNvCxnSpPr/>
          <p:nvPr/>
        </p:nvCxnSpPr>
        <p:spPr>
          <a:xfrm>
            <a:off x="2788920" y="2212848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"/>
          <p:cNvCxnSpPr/>
          <p:nvPr/>
        </p:nvCxnSpPr>
        <p:spPr>
          <a:xfrm>
            <a:off x="3172968" y="2212848"/>
            <a:ext cx="0" cy="978408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"/>
          <p:cNvCxnSpPr/>
          <p:nvPr/>
        </p:nvCxnSpPr>
        <p:spPr>
          <a:xfrm>
            <a:off x="3172968" y="3191256"/>
            <a:ext cx="393192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"/>
          <p:cNvCxnSpPr/>
          <p:nvPr/>
        </p:nvCxnSpPr>
        <p:spPr>
          <a:xfrm>
            <a:off x="5907024" y="3191256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"/>
          <p:cNvCxnSpPr/>
          <p:nvPr/>
        </p:nvCxnSpPr>
        <p:spPr>
          <a:xfrm flipV="1">
            <a:off x="6291072" y="2816352"/>
            <a:ext cx="0" cy="374904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"/>
          <p:cNvCxnSpPr/>
          <p:nvPr/>
        </p:nvCxnSpPr>
        <p:spPr>
          <a:xfrm>
            <a:off x="6291072" y="2816352"/>
            <a:ext cx="38404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box:確認待ちは長いか"/>
          <p:cNvSpPr/>
          <p:nvPr/>
        </p:nvSpPr>
        <p:spPr>
          <a:xfrm>
            <a:off x="6675120" y="2514600"/>
            <a:ext cx="35204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確認待ちは長いか"/>
          <p:cNvSpPr txBox="1"/>
          <p:nvPr/>
        </p:nvSpPr>
        <p:spPr>
          <a:xfrm>
            <a:off x="6757416" y="2546604"/>
            <a:ext cx="335584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確認待ちは長いか</a:t>
            </a:r>
          </a:p>
        </p:txBody>
      </p:sp>
      <p:cxnSp>
        <p:nvCxnSpPr>
          <p:cNvPr id="26" name="connector"/>
          <p:cNvCxnSpPr/>
          <p:nvPr/>
        </p:nvCxnSpPr>
        <p:spPr>
          <a:xfrm>
            <a:off x="5907024" y="3191256"/>
            <a:ext cx="384048" cy="0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"/>
          <p:cNvCxnSpPr/>
          <p:nvPr/>
        </p:nvCxnSpPr>
        <p:spPr>
          <a:xfrm>
            <a:off x="6291072" y="3191256"/>
            <a:ext cx="0" cy="438912"/>
          </a:xfrm>
          <a:prstGeom prst="line">
            <a:avLst/>
          </a:prstGeom>
          <a:ln w="22860">
            <a:solidFill>
              <a:srgbClr val="1C30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"/>
          <p:cNvCxnSpPr/>
          <p:nvPr/>
        </p:nvCxnSpPr>
        <p:spPr>
          <a:xfrm>
            <a:off x="6291072" y="3630168"/>
            <a:ext cx="38404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box:差戻しは多いか"/>
          <p:cNvSpPr/>
          <p:nvPr/>
        </p:nvSpPr>
        <p:spPr>
          <a:xfrm>
            <a:off x="6675120" y="3328416"/>
            <a:ext cx="352044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差戻しは多いか"/>
          <p:cNvSpPr txBox="1"/>
          <p:nvPr/>
        </p:nvSpPr>
        <p:spPr>
          <a:xfrm>
            <a:off x="6757416" y="3360420"/>
            <a:ext cx="335584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差戻しは多いか</a:t>
            </a:r>
          </a:p>
        </p:txBody>
      </p:sp>
      <p:sp>
        <p:nvSpPr>
          <p:cNvPr id="31" name="box:申請後の遅れ"/>
          <p:cNvSpPr/>
          <p:nvPr/>
        </p:nvSpPr>
        <p:spPr>
          <a:xfrm>
            <a:off x="3566160" y="2889504"/>
            <a:ext cx="233172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申請後の遅れ"/>
          <p:cNvSpPr txBox="1"/>
          <p:nvPr/>
        </p:nvSpPr>
        <p:spPr>
          <a:xfrm>
            <a:off x="3648456" y="2921508"/>
            <a:ext cx="2167127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申請後の遅れ</a:t>
            </a:r>
          </a:p>
        </p:txBody>
      </p:sp>
      <p:sp>
        <p:nvSpPr>
          <p:cNvPr id="33" name="box:利用開始が遅い"/>
          <p:cNvSpPr/>
          <p:nvPr/>
        </p:nvSpPr>
        <p:spPr>
          <a:xfrm>
            <a:off x="320040" y="1783080"/>
            <a:ext cx="2468880" cy="859536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利用開始が遅い"/>
          <p:cNvSpPr txBox="1"/>
          <p:nvPr/>
        </p:nvSpPr>
        <p:spPr>
          <a:xfrm>
            <a:off x="402335" y="1815084"/>
            <a:ext cx="2304288" cy="79552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利用開始が遅い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alc_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作業時間の試算ロジック（単位をそろえて算出）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作業時間の試算ロジック（単位をそろえて算出）</a:t>
            </a:r>
          </a:p>
        </p:txBody>
      </p:sp>
      <p:sp>
        <p:nvSpPr>
          <p:cNvPr id="3" name="text:対象件数"/>
          <p:cNvSpPr txBox="1"/>
          <p:nvPr/>
        </p:nvSpPr>
        <p:spPr>
          <a:xfrm>
            <a:off x="502920" y="777240"/>
            <a:ext cx="260604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対象件数</a:t>
            </a:r>
          </a:p>
        </p:txBody>
      </p:sp>
      <p:sp>
        <p:nvSpPr>
          <p:cNvPr id="4" name="box:120件"/>
          <p:cNvSpPr/>
          <p:nvPr/>
        </p:nvSpPr>
        <p:spPr>
          <a:xfrm>
            <a:off x="502920" y="1417320"/>
            <a:ext cx="2606040" cy="91440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:120件"/>
          <p:cNvSpPr txBox="1"/>
          <p:nvPr/>
        </p:nvSpPr>
        <p:spPr>
          <a:xfrm>
            <a:off x="585216" y="1449324"/>
            <a:ext cx="244144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304D"/>
                </a:solidFill>
                <a:latin typeface="Yu Gothic"/>
                <a:ea typeface="Yu Gothic"/>
              </a:rPr>
              <a:t>120件</a:t>
            </a:r>
          </a:p>
        </p:txBody>
      </p:sp>
      <p:sp>
        <p:nvSpPr>
          <p:cNvPr id="6" name="text:1件の短縮時間"/>
          <p:cNvSpPr txBox="1"/>
          <p:nvPr/>
        </p:nvSpPr>
        <p:spPr>
          <a:xfrm>
            <a:off x="3995928" y="777240"/>
            <a:ext cx="260604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1件の短縮時間</a:t>
            </a:r>
          </a:p>
        </p:txBody>
      </p:sp>
      <p:sp>
        <p:nvSpPr>
          <p:cNvPr id="7" name="box:15分 / 件"/>
          <p:cNvSpPr/>
          <p:nvPr/>
        </p:nvSpPr>
        <p:spPr>
          <a:xfrm>
            <a:off x="3995928" y="1417320"/>
            <a:ext cx="2606040" cy="91440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15分 / 件"/>
          <p:cNvSpPr txBox="1"/>
          <p:nvPr/>
        </p:nvSpPr>
        <p:spPr>
          <a:xfrm>
            <a:off x="4078224" y="1449324"/>
            <a:ext cx="244144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304D"/>
                </a:solidFill>
                <a:latin typeface="Yu Gothic"/>
                <a:ea typeface="Yu Gothic"/>
              </a:rPr>
              <a:t>15分 / 件</a:t>
            </a:r>
          </a:p>
        </p:txBody>
      </p:sp>
      <p:sp>
        <p:nvSpPr>
          <p:cNvPr id="9" name="text:×"/>
          <p:cNvSpPr txBox="1"/>
          <p:nvPr/>
        </p:nvSpPr>
        <p:spPr>
          <a:xfrm>
            <a:off x="3346704" y="1572768"/>
            <a:ext cx="457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1C3077"/>
                </a:solidFill>
                <a:latin typeface="Yu Gothic"/>
                <a:ea typeface="Yu Gothic"/>
              </a:rPr>
              <a:t>×</a:t>
            </a:r>
          </a:p>
        </p:txBody>
      </p:sp>
      <p:cxnSp>
        <p:nvCxnSpPr>
          <p:cNvPr id="10" name="connector"/>
          <p:cNvCxnSpPr/>
          <p:nvPr/>
        </p:nvCxnSpPr>
        <p:spPr>
          <a:xfrm>
            <a:off x="6839712" y="1874519"/>
            <a:ext cx="649224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:合計短縮時間"/>
          <p:cNvSpPr txBox="1"/>
          <p:nvPr/>
        </p:nvSpPr>
        <p:spPr>
          <a:xfrm>
            <a:off x="7699248" y="777240"/>
            <a:ext cx="242316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合計短縮時間</a:t>
            </a:r>
          </a:p>
        </p:txBody>
      </p:sp>
      <p:sp>
        <p:nvSpPr>
          <p:cNvPr id="12" name="box:1,800分"/>
          <p:cNvSpPr/>
          <p:nvPr/>
        </p:nvSpPr>
        <p:spPr>
          <a:xfrm>
            <a:off x="7699248" y="1417320"/>
            <a:ext cx="2423160" cy="91440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1,800分"/>
          <p:cNvSpPr txBox="1"/>
          <p:nvPr/>
        </p:nvSpPr>
        <p:spPr>
          <a:xfrm>
            <a:off x="7781544" y="1449324"/>
            <a:ext cx="225856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Yu Gothic"/>
                <a:ea typeface="Yu Gothic"/>
              </a:rPr>
              <a:t>1,800分</a:t>
            </a:r>
          </a:p>
        </p:txBody>
      </p:sp>
      <p:sp>
        <p:nvSpPr>
          <p:cNvPr id="14" name="text:÷ 60分 / 時間"/>
          <p:cNvSpPr txBox="1"/>
          <p:nvPr/>
        </p:nvSpPr>
        <p:spPr>
          <a:xfrm>
            <a:off x="7653527" y="2624328"/>
            <a:ext cx="256032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÷ 60分 / 時間</a:t>
            </a:r>
          </a:p>
        </p:txBody>
      </p:sp>
      <p:cxnSp>
        <p:nvCxnSpPr>
          <p:cNvPr id="15" name="connector"/>
          <p:cNvCxnSpPr/>
          <p:nvPr/>
        </p:nvCxnSpPr>
        <p:spPr>
          <a:xfrm>
            <a:off x="8915400" y="2377440"/>
            <a:ext cx="0" cy="22860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ox:30時間"/>
          <p:cNvSpPr/>
          <p:nvPr/>
        </p:nvSpPr>
        <p:spPr>
          <a:xfrm>
            <a:off x="7699248" y="3200400"/>
            <a:ext cx="2423160" cy="5943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30時間"/>
          <p:cNvSpPr txBox="1"/>
          <p:nvPr/>
        </p:nvSpPr>
        <p:spPr>
          <a:xfrm>
            <a:off x="7781544" y="3232404"/>
            <a:ext cx="225856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2304D"/>
                </a:solidFill>
                <a:latin typeface="Yu Gothic"/>
                <a:ea typeface="Yu Gothic"/>
              </a:rPr>
              <a:t>30時間</a:t>
            </a:r>
          </a:p>
        </p:txBody>
      </p:sp>
      <p:sp>
        <p:nvSpPr>
          <p:cNvPr id="18" name="text:件 × 分 / 件 ＝ 分&#10;時間への換算でも単位を明示する"/>
          <p:cNvSpPr txBox="1"/>
          <p:nvPr/>
        </p:nvSpPr>
        <p:spPr>
          <a:xfrm>
            <a:off x="502920" y="2944368"/>
            <a:ext cx="6126480" cy="7863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件 × 分 / 件 ＝ 分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時間への換算でも単位を明示する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yc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同研究の改善サイクル：評価結果を次の設計へ戻す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共同研究の改善サイクル：評価結果を次の設計へ戻す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4462272" y="1024128"/>
            <a:ext cx="1655064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"/>
          <p:cNvCxnSpPr/>
          <p:nvPr/>
        </p:nvCxnSpPr>
        <p:spPr>
          <a:xfrm>
            <a:off x="7470648" y="1572768"/>
            <a:ext cx="0" cy="996696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"/>
          <p:cNvCxnSpPr/>
          <p:nvPr/>
        </p:nvCxnSpPr>
        <p:spPr>
          <a:xfrm flipH="1">
            <a:off x="4462272" y="3072384"/>
            <a:ext cx="1655064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"/>
          <p:cNvCxnSpPr/>
          <p:nvPr/>
        </p:nvCxnSpPr>
        <p:spPr>
          <a:xfrm flipV="1">
            <a:off x="3108960" y="1572768"/>
            <a:ext cx="0" cy="996696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ox:1  設計"/>
          <p:cNvSpPr/>
          <p:nvPr/>
        </p:nvSpPr>
        <p:spPr>
          <a:xfrm>
            <a:off x="1764792" y="612648"/>
            <a:ext cx="2697480" cy="82296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1  設計"/>
          <p:cNvSpPr txBox="1"/>
          <p:nvPr/>
        </p:nvSpPr>
        <p:spPr>
          <a:xfrm>
            <a:off x="1847088" y="644652"/>
            <a:ext cx="253288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Yu Gothic"/>
                <a:ea typeface="Yu Gothic"/>
              </a:rPr>
              <a:t>1  設計</a:t>
            </a:r>
          </a:p>
        </p:txBody>
      </p:sp>
      <p:sp>
        <p:nvSpPr>
          <p:cNvPr id="9" name="box:2  実装"/>
          <p:cNvSpPr/>
          <p:nvPr/>
        </p:nvSpPr>
        <p:spPr>
          <a:xfrm>
            <a:off x="6117336" y="612648"/>
            <a:ext cx="2697480" cy="82296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2  実装"/>
          <p:cNvSpPr txBox="1"/>
          <p:nvPr/>
        </p:nvSpPr>
        <p:spPr>
          <a:xfrm>
            <a:off x="6199632" y="644652"/>
            <a:ext cx="253288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304D"/>
                </a:solidFill>
                <a:latin typeface="Yu Gothic"/>
                <a:ea typeface="Yu Gothic"/>
              </a:rPr>
              <a:t>2  実装</a:t>
            </a:r>
          </a:p>
        </p:txBody>
      </p:sp>
      <p:sp>
        <p:nvSpPr>
          <p:cNvPr id="11" name="box:3  検証"/>
          <p:cNvSpPr/>
          <p:nvPr/>
        </p:nvSpPr>
        <p:spPr>
          <a:xfrm>
            <a:off x="6117336" y="2660904"/>
            <a:ext cx="2697480" cy="82296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3  検証"/>
          <p:cNvSpPr txBox="1"/>
          <p:nvPr/>
        </p:nvSpPr>
        <p:spPr>
          <a:xfrm>
            <a:off x="6199632" y="2692908"/>
            <a:ext cx="253288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304D"/>
                </a:solidFill>
                <a:latin typeface="Yu Gothic"/>
                <a:ea typeface="Yu Gothic"/>
              </a:rPr>
              <a:t>3  検証</a:t>
            </a:r>
          </a:p>
        </p:txBody>
      </p:sp>
      <p:sp>
        <p:nvSpPr>
          <p:cNvPr id="13" name="box:4  改善"/>
          <p:cNvSpPr/>
          <p:nvPr/>
        </p:nvSpPr>
        <p:spPr>
          <a:xfrm>
            <a:off x="1764792" y="2660904"/>
            <a:ext cx="2697480" cy="82296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4  改善"/>
          <p:cNvSpPr txBox="1"/>
          <p:nvPr/>
        </p:nvSpPr>
        <p:spPr>
          <a:xfrm>
            <a:off x="1847088" y="2692908"/>
            <a:ext cx="2532888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304D"/>
                </a:solidFill>
                <a:latin typeface="Yu Gothic"/>
                <a:ea typeface="Yu Gothic"/>
              </a:rPr>
              <a:t>4  改善</a:t>
            </a:r>
          </a:p>
        </p:txBody>
      </p:sp>
      <p:sp>
        <p:nvSpPr>
          <p:cNvPr id="15" name="text:検証記録を共有&#10;次の設計に反映"/>
          <p:cNvSpPr txBox="1"/>
          <p:nvPr/>
        </p:nvSpPr>
        <p:spPr>
          <a:xfrm>
            <a:off x="4050791" y="1755648"/>
            <a:ext cx="2468880" cy="6949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検証記録を共有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次の設計に反映</a:t>
            </a:r>
          </a:p>
        </p:txBody>
      </p:sp>
      <p:sp>
        <p:nvSpPr>
          <p:cNvPr id="16" name="text:1サイクル：四半期単位"/>
          <p:cNvSpPr txBox="1"/>
          <p:nvPr/>
        </p:nvSpPr>
        <p:spPr>
          <a:xfrm>
            <a:off x="320040" y="3685032"/>
            <a:ext cx="987552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1サイクル：四半期単位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ecision_fo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データ提供の判断：同意と匿名化を順に確認する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データ提供の判断：同意と匿名化を順に確認する</a:t>
            </a:r>
          </a:p>
        </p:txBody>
      </p:sp>
      <p:cxnSp>
        <p:nvCxnSpPr>
          <p:cNvPr id="3" name="connector"/>
          <p:cNvCxnSpPr/>
          <p:nvPr/>
        </p:nvCxnSpPr>
        <p:spPr>
          <a:xfrm>
            <a:off x="2121408" y="1965960"/>
            <a:ext cx="658368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"/>
          <p:cNvCxnSpPr/>
          <p:nvPr/>
        </p:nvCxnSpPr>
        <p:spPr>
          <a:xfrm>
            <a:off x="4800600" y="1965960"/>
            <a:ext cx="722376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"/>
          <p:cNvCxnSpPr/>
          <p:nvPr/>
        </p:nvCxnSpPr>
        <p:spPr>
          <a:xfrm>
            <a:off x="7543800" y="1965960"/>
            <a:ext cx="758952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decision-no:consent"/>
          <p:cNvCxnSpPr/>
          <p:nvPr/>
        </p:nvCxnSpPr>
        <p:spPr>
          <a:xfrm>
            <a:off x="3794760" y="2569464"/>
            <a:ext cx="0" cy="566928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ecision-no:anonymize"/>
          <p:cNvCxnSpPr/>
          <p:nvPr/>
        </p:nvCxnSpPr>
        <p:spPr>
          <a:xfrm>
            <a:off x="6537960" y="2569464"/>
            <a:ext cx="0" cy="566928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ox:提供依頼"/>
          <p:cNvSpPr/>
          <p:nvPr/>
        </p:nvSpPr>
        <p:spPr>
          <a:xfrm>
            <a:off x="320040" y="1591056"/>
            <a:ext cx="1801368" cy="749808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提供依頼"/>
          <p:cNvSpPr txBox="1"/>
          <p:nvPr/>
        </p:nvSpPr>
        <p:spPr>
          <a:xfrm>
            <a:off x="402335" y="1623060"/>
            <a:ext cx="1636776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提供依頼</a:t>
            </a:r>
          </a:p>
        </p:txBody>
      </p:sp>
      <p:sp>
        <p:nvSpPr>
          <p:cNvPr id="10" name="decision:同意あり？"/>
          <p:cNvSpPr/>
          <p:nvPr/>
        </p:nvSpPr>
        <p:spPr>
          <a:xfrm>
            <a:off x="2788920" y="1371600"/>
            <a:ext cx="2011680" cy="1188720"/>
          </a:xfrm>
          <a:prstGeom prst="diamond">
            <a:avLst/>
          </a:prstGeom>
          <a:solidFill>
            <a:srgbClr val="E9EEF7"/>
          </a:solidFill>
          <a:ln w="12700">
            <a:solidFill>
              <a:srgbClr val="1C30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同意あり？"/>
          <p:cNvSpPr txBox="1"/>
          <p:nvPr/>
        </p:nvSpPr>
        <p:spPr>
          <a:xfrm>
            <a:off x="3090672" y="1656892"/>
            <a:ext cx="1408176" cy="61813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同意あり？</a:t>
            </a:r>
          </a:p>
        </p:txBody>
      </p:sp>
      <p:sp>
        <p:nvSpPr>
          <p:cNvPr id="12" name="decision:匿名化済？"/>
          <p:cNvSpPr/>
          <p:nvPr/>
        </p:nvSpPr>
        <p:spPr>
          <a:xfrm>
            <a:off x="5532120" y="1371600"/>
            <a:ext cx="2011680" cy="1188720"/>
          </a:xfrm>
          <a:prstGeom prst="diamond">
            <a:avLst/>
          </a:prstGeom>
          <a:solidFill>
            <a:srgbClr val="E9EEF7"/>
          </a:solidFill>
          <a:ln w="12700">
            <a:solidFill>
              <a:srgbClr val="1C30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匿名化済？"/>
          <p:cNvSpPr txBox="1"/>
          <p:nvPr/>
        </p:nvSpPr>
        <p:spPr>
          <a:xfrm>
            <a:off x="5833872" y="1656892"/>
            <a:ext cx="1408176" cy="61813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匿名化済？</a:t>
            </a:r>
          </a:p>
        </p:txBody>
      </p:sp>
      <p:sp>
        <p:nvSpPr>
          <p:cNvPr id="14" name="box:提供可"/>
          <p:cNvSpPr/>
          <p:nvPr/>
        </p:nvSpPr>
        <p:spPr>
          <a:xfrm>
            <a:off x="8302752" y="1591056"/>
            <a:ext cx="1920240" cy="749808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提供可"/>
          <p:cNvSpPr txBox="1"/>
          <p:nvPr/>
        </p:nvSpPr>
        <p:spPr>
          <a:xfrm>
            <a:off x="8385048" y="1623060"/>
            <a:ext cx="175564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</a:rPr>
              <a:t>提供可</a:t>
            </a:r>
          </a:p>
        </p:txBody>
      </p:sp>
      <p:sp>
        <p:nvSpPr>
          <p:cNvPr id="16" name="box:同意を確認"/>
          <p:cNvSpPr/>
          <p:nvPr/>
        </p:nvSpPr>
        <p:spPr>
          <a:xfrm>
            <a:off x="2651760" y="3172968"/>
            <a:ext cx="2286000" cy="64008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同意を確認"/>
          <p:cNvSpPr txBox="1"/>
          <p:nvPr/>
        </p:nvSpPr>
        <p:spPr>
          <a:xfrm>
            <a:off x="2734056" y="3204972"/>
            <a:ext cx="2121408" cy="576071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同意を確認</a:t>
            </a:r>
          </a:p>
        </p:txBody>
      </p:sp>
      <p:sp>
        <p:nvSpPr>
          <p:cNvPr id="18" name="box:匿名化を実施"/>
          <p:cNvSpPr/>
          <p:nvPr/>
        </p:nvSpPr>
        <p:spPr>
          <a:xfrm>
            <a:off x="5394960" y="3172968"/>
            <a:ext cx="2286000" cy="640080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匿名化を実施"/>
          <p:cNvSpPr txBox="1"/>
          <p:nvPr/>
        </p:nvSpPr>
        <p:spPr>
          <a:xfrm>
            <a:off x="5477256" y="3204972"/>
            <a:ext cx="2121408" cy="576071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匿名化を実施</a:t>
            </a:r>
          </a:p>
        </p:txBody>
      </p:sp>
      <p:sp>
        <p:nvSpPr>
          <p:cNvPr id="20" name="text:はい"/>
          <p:cNvSpPr txBox="1"/>
          <p:nvPr/>
        </p:nvSpPr>
        <p:spPr>
          <a:xfrm>
            <a:off x="4855464" y="1517904"/>
            <a:ext cx="86868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はい</a:t>
            </a:r>
          </a:p>
        </p:txBody>
      </p:sp>
      <p:sp>
        <p:nvSpPr>
          <p:cNvPr id="21" name="text:はい"/>
          <p:cNvSpPr txBox="1"/>
          <p:nvPr/>
        </p:nvSpPr>
        <p:spPr>
          <a:xfrm>
            <a:off x="7589520" y="1517904"/>
            <a:ext cx="86868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はい</a:t>
            </a:r>
          </a:p>
        </p:txBody>
      </p:sp>
      <p:sp>
        <p:nvSpPr>
          <p:cNvPr id="22" name="text:いいえ"/>
          <p:cNvSpPr txBox="1"/>
          <p:nvPr/>
        </p:nvSpPr>
        <p:spPr>
          <a:xfrm>
            <a:off x="2779776" y="2752344"/>
            <a:ext cx="86868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いいえ</a:t>
            </a:r>
          </a:p>
        </p:txBody>
      </p:sp>
      <p:sp>
        <p:nvSpPr>
          <p:cNvPr id="23" name="text:いいえ"/>
          <p:cNvSpPr txBox="1"/>
          <p:nvPr/>
        </p:nvSpPr>
        <p:spPr>
          <a:xfrm>
            <a:off x="5577840" y="2752344"/>
            <a:ext cx="86868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いいえ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共用データ基盤の段階的な整備ロードマップ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共用データ基盤の段階的な整備ロードマップ</a:t>
            </a:r>
          </a:p>
        </p:txBody>
      </p:sp>
      <p:sp>
        <p:nvSpPr>
          <p:cNvPr id="3" name="box:2026年度：設計"/>
          <p:cNvSpPr/>
          <p:nvPr/>
        </p:nvSpPr>
        <p:spPr>
          <a:xfrm>
            <a:off x="1828800" y="594360"/>
            <a:ext cx="2606040" cy="521207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:2026年度：設計"/>
          <p:cNvSpPr txBox="1"/>
          <p:nvPr/>
        </p:nvSpPr>
        <p:spPr>
          <a:xfrm>
            <a:off x="1911095" y="626364"/>
            <a:ext cx="2441448" cy="45719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2026年度：設計</a:t>
            </a:r>
          </a:p>
        </p:txBody>
      </p:sp>
      <p:sp>
        <p:nvSpPr>
          <p:cNvPr id="5" name="box:2027年度：試行"/>
          <p:cNvSpPr/>
          <p:nvPr/>
        </p:nvSpPr>
        <p:spPr>
          <a:xfrm>
            <a:off x="4526280" y="594360"/>
            <a:ext cx="2606040" cy="521207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2027年度：試行"/>
          <p:cNvSpPr txBox="1"/>
          <p:nvPr/>
        </p:nvSpPr>
        <p:spPr>
          <a:xfrm>
            <a:off x="4608576" y="626364"/>
            <a:ext cx="2441448" cy="45719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2027年度：試行</a:t>
            </a:r>
          </a:p>
        </p:txBody>
      </p:sp>
      <p:sp>
        <p:nvSpPr>
          <p:cNvPr id="7" name="box:2028年度：展開"/>
          <p:cNvSpPr/>
          <p:nvPr/>
        </p:nvSpPr>
        <p:spPr>
          <a:xfrm>
            <a:off x="7223760" y="594360"/>
            <a:ext cx="2606040" cy="521207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2028年度：展開"/>
          <p:cNvSpPr txBox="1"/>
          <p:nvPr/>
        </p:nvSpPr>
        <p:spPr>
          <a:xfrm>
            <a:off x="7306056" y="626364"/>
            <a:ext cx="2441448" cy="45719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2028年度：展開</a:t>
            </a:r>
          </a:p>
        </p:txBody>
      </p:sp>
      <p:sp>
        <p:nvSpPr>
          <p:cNvPr id="9" name="text:基盤"/>
          <p:cNvSpPr txBox="1"/>
          <p:nvPr/>
        </p:nvSpPr>
        <p:spPr>
          <a:xfrm>
            <a:off x="365760" y="1554480"/>
            <a:ext cx="118872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基盤</a:t>
            </a:r>
          </a:p>
        </p:txBody>
      </p:sp>
      <p:sp>
        <p:nvSpPr>
          <p:cNvPr id="10" name="box:要件を整理"/>
          <p:cNvSpPr/>
          <p:nvPr/>
        </p:nvSpPr>
        <p:spPr>
          <a:xfrm>
            <a:off x="1828800" y="1435608"/>
            <a:ext cx="2606040" cy="658368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要件を整理"/>
          <p:cNvSpPr txBox="1"/>
          <p:nvPr/>
        </p:nvSpPr>
        <p:spPr>
          <a:xfrm>
            <a:off x="1911095" y="1467612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要件を整理</a:t>
            </a:r>
          </a:p>
        </p:txBody>
      </p:sp>
      <p:cxnSp>
        <p:nvCxnSpPr>
          <p:cNvPr id="12" name="connector"/>
          <p:cNvCxnSpPr/>
          <p:nvPr/>
        </p:nvCxnSpPr>
        <p:spPr>
          <a:xfrm>
            <a:off x="4434840" y="1764792"/>
            <a:ext cx="6858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ox:試作基盤を運用"/>
          <p:cNvSpPr/>
          <p:nvPr/>
        </p:nvSpPr>
        <p:spPr>
          <a:xfrm>
            <a:off x="4526280" y="1435608"/>
            <a:ext cx="2606040" cy="658368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試作基盤を運用"/>
          <p:cNvSpPr txBox="1"/>
          <p:nvPr/>
        </p:nvSpPr>
        <p:spPr>
          <a:xfrm>
            <a:off x="4608576" y="1467612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試作基盤を運用</a:t>
            </a:r>
          </a:p>
        </p:txBody>
      </p:sp>
      <p:cxnSp>
        <p:nvCxnSpPr>
          <p:cNvPr id="15" name="connector"/>
          <p:cNvCxnSpPr/>
          <p:nvPr/>
        </p:nvCxnSpPr>
        <p:spPr>
          <a:xfrm>
            <a:off x="7132320" y="1764792"/>
            <a:ext cx="6858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ox:全学へ展開"/>
          <p:cNvSpPr/>
          <p:nvPr/>
        </p:nvSpPr>
        <p:spPr>
          <a:xfrm>
            <a:off x="7223760" y="1435608"/>
            <a:ext cx="2606040" cy="658368"/>
          </a:xfrm>
          <a:prstGeom prst="rect">
            <a:avLst/>
          </a:prstGeom>
          <a:solidFill>
            <a:srgbClr val="E9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全学へ展開"/>
          <p:cNvSpPr txBox="1"/>
          <p:nvPr/>
        </p:nvSpPr>
        <p:spPr>
          <a:xfrm>
            <a:off x="7306056" y="1467612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全学へ展開</a:t>
            </a:r>
          </a:p>
        </p:txBody>
      </p:sp>
      <p:sp>
        <p:nvSpPr>
          <p:cNvPr id="18" name="text:運用"/>
          <p:cNvSpPr txBox="1"/>
          <p:nvPr/>
        </p:nvSpPr>
        <p:spPr>
          <a:xfrm>
            <a:off x="365760" y="2496312"/>
            <a:ext cx="118872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3077"/>
                </a:solidFill>
                <a:latin typeface="Yu Gothic"/>
                <a:ea typeface="Yu Gothic"/>
              </a:rPr>
              <a:t>運用</a:t>
            </a:r>
          </a:p>
        </p:txBody>
      </p:sp>
      <p:sp>
        <p:nvSpPr>
          <p:cNvPr id="19" name="box:管理責任を定義"/>
          <p:cNvSpPr/>
          <p:nvPr/>
        </p:nvSpPr>
        <p:spPr>
          <a:xfrm>
            <a:off x="1828800" y="2377440"/>
            <a:ext cx="2606040" cy="65836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管理責任を定義"/>
          <p:cNvSpPr txBox="1"/>
          <p:nvPr/>
        </p:nvSpPr>
        <p:spPr>
          <a:xfrm>
            <a:off x="1911095" y="2409444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管理責任を定義</a:t>
            </a:r>
          </a:p>
        </p:txBody>
      </p:sp>
      <p:cxnSp>
        <p:nvCxnSpPr>
          <p:cNvPr id="21" name="connector"/>
          <p:cNvCxnSpPr/>
          <p:nvPr/>
        </p:nvCxnSpPr>
        <p:spPr>
          <a:xfrm>
            <a:off x="4434840" y="2706624"/>
            <a:ext cx="6858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box:3部局で試行"/>
          <p:cNvSpPr/>
          <p:nvPr/>
        </p:nvSpPr>
        <p:spPr>
          <a:xfrm>
            <a:off x="4526280" y="2377440"/>
            <a:ext cx="2606040" cy="65836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3部局で試行"/>
          <p:cNvSpPr txBox="1"/>
          <p:nvPr/>
        </p:nvSpPr>
        <p:spPr>
          <a:xfrm>
            <a:off x="4608576" y="2409444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3部局で試行</a:t>
            </a:r>
          </a:p>
        </p:txBody>
      </p:sp>
      <p:cxnSp>
        <p:nvCxnSpPr>
          <p:cNvPr id="24" name="connector"/>
          <p:cNvCxnSpPr/>
          <p:nvPr/>
        </p:nvCxnSpPr>
        <p:spPr>
          <a:xfrm>
            <a:off x="7132320" y="2706624"/>
            <a:ext cx="68580" cy="0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box:支援窓口を統合"/>
          <p:cNvSpPr/>
          <p:nvPr/>
        </p:nvSpPr>
        <p:spPr>
          <a:xfrm>
            <a:off x="7223760" y="2377440"/>
            <a:ext cx="2606040" cy="65836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支援窓口を統合"/>
          <p:cNvSpPr txBox="1"/>
          <p:nvPr/>
        </p:nvSpPr>
        <p:spPr>
          <a:xfrm>
            <a:off x="7306056" y="2409444"/>
            <a:ext cx="2441448" cy="594359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2304D"/>
                </a:solidFill>
                <a:latin typeface="Yu Gothic"/>
                <a:ea typeface="Yu Gothic"/>
              </a:rPr>
              <a:t>支援窓口を統合</a:t>
            </a:r>
          </a:p>
        </p:txBody>
      </p:sp>
      <p:cxnSp>
        <p:nvCxnSpPr>
          <p:cNvPr id="27" name="connector"/>
          <p:cNvCxnSpPr/>
          <p:nvPr/>
        </p:nvCxnSpPr>
        <p:spPr>
          <a:xfrm>
            <a:off x="2011680" y="3383280"/>
            <a:ext cx="7955280" cy="0"/>
          </a:xfrm>
          <a:prstGeom prst="line">
            <a:avLst/>
          </a:prstGeom>
          <a:ln w="25400">
            <a:solidFill>
              <a:srgbClr val="7F96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ilestone:設計承認"/>
          <p:cNvSpPr/>
          <p:nvPr/>
        </p:nvSpPr>
        <p:spPr>
          <a:xfrm>
            <a:off x="3031236" y="3305556"/>
            <a:ext cx="155448" cy="155448"/>
          </a:xfrm>
          <a:prstGeom prst="diamond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設計承認"/>
          <p:cNvSpPr txBox="1"/>
          <p:nvPr/>
        </p:nvSpPr>
        <p:spPr>
          <a:xfrm>
            <a:off x="1965960" y="3611880"/>
            <a:ext cx="2286000" cy="35661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設計承認</a:t>
            </a:r>
          </a:p>
        </p:txBody>
      </p:sp>
      <p:sp>
        <p:nvSpPr>
          <p:cNvPr id="30" name="milestone:試行評価"/>
          <p:cNvSpPr/>
          <p:nvPr/>
        </p:nvSpPr>
        <p:spPr>
          <a:xfrm>
            <a:off x="5728716" y="3305556"/>
            <a:ext cx="155448" cy="155448"/>
          </a:xfrm>
          <a:prstGeom prst="diamond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試行評価"/>
          <p:cNvSpPr txBox="1"/>
          <p:nvPr/>
        </p:nvSpPr>
        <p:spPr>
          <a:xfrm>
            <a:off x="4663440" y="3611880"/>
            <a:ext cx="2286000" cy="35661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試行評価</a:t>
            </a:r>
          </a:p>
        </p:txBody>
      </p:sp>
      <p:sp>
        <p:nvSpPr>
          <p:cNvPr id="32" name="milestone:展開判断"/>
          <p:cNvSpPr/>
          <p:nvPr/>
        </p:nvSpPr>
        <p:spPr>
          <a:xfrm>
            <a:off x="8426196" y="3305556"/>
            <a:ext cx="155448" cy="155448"/>
          </a:xfrm>
          <a:prstGeom prst="diamond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展開判断"/>
          <p:cNvSpPr txBox="1"/>
          <p:nvPr/>
        </p:nvSpPr>
        <p:spPr>
          <a:xfrm>
            <a:off x="7360920" y="3611880"/>
            <a:ext cx="2286000" cy="35661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22304D"/>
                </a:solidFill>
                <a:latin typeface="Yu Gothic"/>
                <a:ea typeface="Yu Gothic"/>
              </a:rPr>
              <a:t>展開判断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6か月の実行計画：期間と前後関係を明示"/>
          <p:cNvSpPr txBox="1"/>
          <p:nvPr/>
        </p:nvSpPr>
        <p:spPr>
          <a:xfrm>
            <a:off x="274320" y="73152"/>
            <a:ext cx="1005840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C3077"/>
                </a:solidFill>
                <a:latin typeface="Yu Gothic"/>
                <a:ea typeface="Yu Gothic"/>
              </a:rPr>
              <a:t>6か月の実行計画：期間と前後関係を明示</a:t>
            </a:r>
          </a:p>
        </p:txBody>
      </p:sp>
      <p:sp>
        <p:nvSpPr>
          <p:cNvPr id="3" name="gantt-row:0"/>
          <p:cNvSpPr/>
          <p:nvPr/>
        </p:nvSpPr>
        <p:spPr>
          <a:xfrm>
            <a:off x="365760" y="1042415"/>
            <a:ext cx="9464040" cy="60807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antt-row:1"/>
          <p:cNvSpPr/>
          <p:nvPr/>
        </p:nvSpPr>
        <p:spPr>
          <a:xfrm>
            <a:off x="365760" y="1682495"/>
            <a:ext cx="9464040" cy="60807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antt-row:2"/>
          <p:cNvSpPr/>
          <p:nvPr/>
        </p:nvSpPr>
        <p:spPr>
          <a:xfrm>
            <a:off x="365760" y="2322576"/>
            <a:ext cx="9464040" cy="60807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antt-row:3"/>
          <p:cNvSpPr/>
          <p:nvPr/>
        </p:nvSpPr>
        <p:spPr>
          <a:xfrm>
            <a:off x="365760" y="2962655"/>
            <a:ext cx="9464040" cy="60807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gantt-grid:0"/>
          <p:cNvCxnSpPr/>
          <p:nvPr/>
        </p:nvCxnSpPr>
        <p:spPr>
          <a:xfrm>
            <a:off x="269748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"/>
          <p:cNvSpPr/>
          <p:nvPr/>
        </p:nvSpPr>
        <p:spPr>
          <a:xfrm>
            <a:off x="269748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4月"/>
          <p:cNvSpPr txBox="1"/>
          <p:nvPr/>
        </p:nvSpPr>
        <p:spPr>
          <a:xfrm>
            <a:off x="269748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4月</a:t>
            </a:r>
          </a:p>
        </p:txBody>
      </p:sp>
      <p:cxnSp>
        <p:nvCxnSpPr>
          <p:cNvPr id="10" name="gantt-grid:1"/>
          <p:cNvCxnSpPr/>
          <p:nvPr/>
        </p:nvCxnSpPr>
        <p:spPr>
          <a:xfrm>
            <a:off x="388620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hape"/>
          <p:cNvSpPr/>
          <p:nvPr/>
        </p:nvSpPr>
        <p:spPr>
          <a:xfrm>
            <a:off x="388620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5月"/>
          <p:cNvSpPr txBox="1"/>
          <p:nvPr/>
        </p:nvSpPr>
        <p:spPr>
          <a:xfrm>
            <a:off x="388620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5月</a:t>
            </a:r>
          </a:p>
        </p:txBody>
      </p:sp>
      <p:cxnSp>
        <p:nvCxnSpPr>
          <p:cNvPr id="13" name="gantt-grid:2"/>
          <p:cNvCxnSpPr/>
          <p:nvPr/>
        </p:nvCxnSpPr>
        <p:spPr>
          <a:xfrm>
            <a:off x="507492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hape"/>
          <p:cNvSpPr/>
          <p:nvPr/>
        </p:nvSpPr>
        <p:spPr>
          <a:xfrm>
            <a:off x="507492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6月"/>
          <p:cNvSpPr txBox="1"/>
          <p:nvPr/>
        </p:nvSpPr>
        <p:spPr>
          <a:xfrm>
            <a:off x="507492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6月</a:t>
            </a:r>
          </a:p>
        </p:txBody>
      </p:sp>
      <p:cxnSp>
        <p:nvCxnSpPr>
          <p:cNvPr id="16" name="gantt-grid:3"/>
          <p:cNvCxnSpPr/>
          <p:nvPr/>
        </p:nvCxnSpPr>
        <p:spPr>
          <a:xfrm>
            <a:off x="626364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hape"/>
          <p:cNvSpPr/>
          <p:nvPr/>
        </p:nvSpPr>
        <p:spPr>
          <a:xfrm>
            <a:off x="626364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7月"/>
          <p:cNvSpPr txBox="1"/>
          <p:nvPr/>
        </p:nvSpPr>
        <p:spPr>
          <a:xfrm>
            <a:off x="626364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7月</a:t>
            </a:r>
          </a:p>
        </p:txBody>
      </p:sp>
      <p:cxnSp>
        <p:nvCxnSpPr>
          <p:cNvPr id="19" name="gantt-grid:4"/>
          <p:cNvCxnSpPr/>
          <p:nvPr/>
        </p:nvCxnSpPr>
        <p:spPr>
          <a:xfrm>
            <a:off x="745236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hape"/>
          <p:cNvSpPr/>
          <p:nvPr/>
        </p:nvSpPr>
        <p:spPr>
          <a:xfrm>
            <a:off x="745236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8月"/>
          <p:cNvSpPr txBox="1"/>
          <p:nvPr/>
        </p:nvSpPr>
        <p:spPr>
          <a:xfrm>
            <a:off x="745236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8月</a:t>
            </a:r>
          </a:p>
        </p:txBody>
      </p:sp>
      <p:cxnSp>
        <p:nvCxnSpPr>
          <p:cNvPr id="22" name="gantt-grid:5"/>
          <p:cNvCxnSpPr/>
          <p:nvPr/>
        </p:nvCxnSpPr>
        <p:spPr>
          <a:xfrm>
            <a:off x="864108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hape"/>
          <p:cNvSpPr/>
          <p:nvPr/>
        </p:nvSpPr>
        <p:spPr>
          <a:xfrm>
            <a:off x="8641080" y="521207"/>
            <a:ext cx="1165860" cy="420624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9月"/>
          <p:cNvSpPr txBox="1"/>
          <p:nvPr/>
        </p:nvSpPr>
        <p:spPr>
          <a:xfrm>
            <a:off x="8641080" y="539496"/>
            <a:ext cx="11658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9月</a:t>
            </a:r>
          </a:p>
        </p:txBody>
      </p:sp>
      <p:cxnSp>
        <p:nvCxnSpPr>
          <p:cNvPr id="25" name="gantt-grid:6"/>
          <p:cNvCxnSpPr/>
          <p:nvPr/>
        </p:nvCxnSpPr>
        <p:spPr>
          <a:xfrm>
            <a:off x="9829800" y="1042415"/>
            <a:ext cx="0" cy="2528316"/>
          </a:xfrm>
          <a:prstGeom prst="line">
            <a:avLst/>
          </a:prstGeom>
          <a:ln w="13970">
            <a:solidFill>
              <a:srgbClr val="C9D3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:要件定義"/>
          <p:cNvSpPr txBox="1"/>
          <p:nvPr/>
        </p:nvSpPr>
        <p:spPr>
          <a:xfrm>
            <a:off x="512064" y="1161288"/>
            <a:ext cx="20574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要件定義</a:t>
            </a:r>
          </a:p>
        </p:txBody>
      </p:sp>
      <p:sp>
        <p:nvSpPr>
          <p:cNvPr id="27" name="gantt:要件定義:0:1"/>
          <p:cNvSpPr/>
          <p:nvPr/>
        </p:nvSpPr>
        <p:spPr>
          <a:xfrm>
            <a:off x="2697480" y="1197863"/>
            <a:ext cx="1188720" cy="32004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試作"/>
          <p:cNvSpPr txBox="1"/>
          <p:nvPr/>
        </p:nvSpPr>
        <p:spPr>
          <a:xfrm>
            <a:off x="512064" y="1801367"/>
            <a:ext cx="20574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試作</a:t>
            </a:r>
          </a:p>
        </p:txBody>
      </p:sp>
      <p:sp>
        <p:nvSpPr>
          <p:cNvPr id="29" name="gantt:試作:1:2"/>
          <p:cNvSpPr/>
          <p:nvPr/>
        </p:nvSpPr>
        <p:spPr>
          <a:xfrm>
            <a:off x="3886200" y="1837943"/>
            <a:ext cx="2377440" cy="32004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利用者検証"/>
          <p:cNvSpPr txBox="1"/>
          <p:nvPr/>
        </p:nvSpPr>
        <p:spPr>
          <a:xfrm>
            <a:off x="512064" y="2441448"/>
            <a:ext cx="20574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利用者検証</a:t>
            </a:r>
          </a:p>
        </p:txBody>
      </p:sp>
      <p:sp>
        <p:nvSpPr>
          <p:cNvPr id="31" name="gantt:利用者検証:3:1"/>
          <p:cNvSpPr/>
          <p:nvPr/>
        </p:nvSpPr>
        <p:spPr>
          <a:xfrm>
            <a:off x="6263640" y="2478024"/>
            <a:ext cx="1188720" cy="320040"/>
          </a:xfrm>
          <a:prstGeom prst="rect">
            <a:avLst/>
          </a:prstGeom>
          <a:solidFill>
            <a:srgbClr val="7F9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改善・移行"/>
          <p:cNvSpPr txBox="1"/>
          <p:nvPr/>
        </p:nvSpPr>
        <p:spPr>
          <a:xfrm>
            <a:off x="512064" y="3081527"/>
            <a:ext cx="20574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304D"/>
                </a:solidFill>
                <a:latin typeface="Yu Gothic"/>
                <a:ea typeface="Yu Gothic"/>
              </a:rPr>
              <a:t>改善・移行</a:t>
            </a:r>
          </a:p>
        </p:txBody>
      </p:sp>
      <p:sp>
        <p:nvSpPr>
          <p:cNvPr id="33" name="gantt:改善・移行:4:2"/>
          <p:cNvSpPr/>
          <p:nvPr/>
        </p:nvSpPr>
        <p:spPr>
          <a:xfrm>
            <a:off x="7452360" y="3118103"/>
            <a:ext cx="2377440" cy="320040"/>
          </a:xfrm>
          <a:prstGeom prst="rect">
            <a:avLst/>
          </a:prstGeom>
          <a:solidFill>
            <a:srgbClr val="1C3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dependency:0:1"/>
          <p:cNvCxnSpPr/>
          <p:nvPr/>
        </p:nvCxnSpPr>
        <p:spPr>
          <a:xfrm>
            <a:off x="3886200" y="1527048"/>
            <a:ext cx="0" cy="28346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dependency:1:2"/>
          <p:cNvCxnSpPr/>
          <p:nvPr/>
        </p:nvCxnSpPr>
        <p:spPr>
          <a:xfrm>
            <a:off x="6263640" y="2167128"/>
            <a:ext cx="0" cy="28346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dependency:2:3"/>
          <p:cNvCxnSpPr/>
          <p:nvPr/>
        </p:nvCxnSpPr>
        <p:spPr>
          <a:xfrm>
            <a:off x="7452360" y="2807208"/>
            <a:ext cx="0" cy="283464"/>
          </a:xfrm>
          <a:prstGeom prst="line">
            <a:avLst/>
          </a:prstGeom>
          <a:ln w="22860">
            <a:solidFill>
              <a:srgbClr val="1C30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:■ 作業期間　↓ 完了後に次工程を開始"/>
          <p:cNvSpPr txBox="1"/>
          <p:nvPr/>
        </p:nvSpPr>
        <p:spPr>
          <a:xfrm>
            <a:off x="438912" y="3758184"/>
            <a:ext cx="9601200" cy="3017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17D"/>
                </a:solidFill>
                <a:latin typeface="Yu Gothic"/>
                <a:ea typeface="Yu Gothic"/>
              </a:rPr>
              <a:t>■ 作業期間　↓ 完了後に次工程を開始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Tokyo editable diagram archetypes</dc:title>
  <dc:subject>Fictional academic planning examples; 22 native editable diagrams</dc:subject>
  <dc:creator>Science Tokyo template contributors</dc:creator>
  <cp:keywords/>
  <dc:description>generated using python-pptx</dc:description>
  <cp:lastModifiedBy>Science Tokyo template contributors</cp:lastModifiedBy>
  <cp:revision>1</cp:revision>
  <dcterms:created xsi:type="dcterms:W3CDTF">2000-01-01T00:00:00Z</dcterms:created>
  <dcterms:modified xsi:type="dcterms:W3CDTF">2000-01-01T00:00:00Z</dcterms:modified>
  <cp:category/>
</cp:coreProperties>
</file>